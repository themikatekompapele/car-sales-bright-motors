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sldIdLst>
    <p:sldId id="256" r:id="rId2"/>
    <p:sldId id="257" r:id="rId3"/>
    <p:sldId id="258" r:id="rId4"/>
    <p:sldId id="259" r:id="rId5"/>
    <p:sldId id="260" r:id="rId6"/>
    <p:sldId id="261" r:id="rId7"/>
    <p:sldId id="262" r:id="rId8"/>
    <p:sldId id="263" r:id="rId9"/>
    <p:sldId id="266" r:id="rId10"/>
    <p:sldId id="267" r:id="rId11"/>
    <p:sldId id="265" r:id="rId12"/>
    <p:sldId id="264"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BEB309-DD27-4CDC-BB70-9109F40628E3}" v="36" dt="2025-11-25T09:07:35.219"/>
    <p1510:client id="{75EA8D2B-F31B-4CEE-B2EC-FB2711F9E756}" v="16" dt="2025-11-25T09:05:54.1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4B223F1012616423/makerevenu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4B223F1012616423/revenue%20by%20mode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4B223F1012616423/year_avgprice_mileage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4B223F1012616423/sales%20by%20location.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4B223F1012616423/pricecarcategorization.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4B223F1012616423/mileage_categorization.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[makerevenue.xlsx]Sheet1!PivotTable3</c:name>
    <c:fmtId val="-1"/>
  </c:pivotSource>
  <c:chart>
    <c:title>
      <c:tx>
        <c:rich>
          <a:bodyPr rot="0" spcFirstLastPara="1" vertOverflow="ellipsis" vert="horz" wrap="square" anchor="ctr" anchorCtr="1"/>
          <a:lstStyle/>
          <a:p>
            <a:pPr>
              <a:defRPr sz="1400" b="1" i="0" u="none" strike="noStrike" kern="1200" spc="0" baseline="0">
                <a:solidFill>
                  <a:srgbClr val="000000"/>
                </a:solidFill>
                <a:latin typeface="Times New Roman"/>
                <a:ea typeface="Times New Roman"/>
                <a:cs typeface="Times New Roman"/>
              </a:defRPr>
            </a:pPr>
            <a:r>
              <a:rPr lang="en-US"/>
              <a:t>Top 15 Best Selling Car Make by Revenue</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000000"/>
              </a:solidFill>
              <a:latin typeface="Times New Roman"/>
              <a:ea typeface="Times New Roman"/>
              <a:cs typeface="Times New Roman"/>
            </a:defRPr>
          </a:pPr>
          <a:endParaRPr lang="en-US"/>
        </a:p>
      </c:txPr>
    </c:title>
    <c:autoTitleDeleted val="0"/>
    <c:pivotFmts>
      <c:pivotFmt>
        <c:idx val="0"/>
        <c:spPr>
          <a:solidFill>
            <a:srgbClr val="70AD47"/>
          </a:solidFill>
          <a:ln>
            <a:noFill/>
          </a:ln>
          <a:effectLst/>
        </c:spPr>
        <c:marker>
          <c:symbol val="circle"/>
          <c:size val="5"/>
          <c:spPr>
            <a:solidFill>
              <a:srgbClr val="637CEF"/>
            </a:solidFill>
            <a:ln w="9525">
              <a:solidFill>
                <a:srgbClr val="637CEF"/>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0000"/>
                  </a:solidFill>
                  <a:latin typeface="Times New Roman"/>
                  <a:ea typeface="Times New Roman"/>
                  <a:cs typeface="Times New Roman"/>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70AD47"/>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0000"/>
                  </a:solidFill>
                  <a:latin typeface="Times New Roman"/>
                  <a:ea typeface="Times New Roman"/>
                  <a:cs typeface="Times New Roman"/>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70AD47"/>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0000"/>
                  </a:solidFill>
                  <a:latin typeface="Times New Roman"/>
                  <a:ea typeface="Times New Roman"/>
                  <a:cs typeface="Times New Roman"/>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70AD47"/>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0000"/>
                  </a:solidFill>
                  <a:latin typeface="Times New Roman"/>
                  <a:ea typeface="Times New Roman"/>
                  <a:cs typeface="Times New Roman"/>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70AD47"/>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0000"/>
                  </a:solidFill>
                  <a:latin typeface="Times New Roman"/>
                  <a:ea typeface="Times New Roman"/>
                  <a:cs typeface="Times New Roman"/>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C000"/>
          </a:solidFill>
          <a:ln>
            <a:noFill/>
          </a:ln>
          <a:effectLst/>
        </c:spPr>
      </c:pivotFmt>
      <c:pivotFmt>
        <c:idx val="6"/>
        <c:spPr>
          <a:solidFill>
            <a:srgbClr val="00B050"/>
          </a:solidFill>
          <a:ln>
            <a:noFill/>
          </a:ln>
          <a:effectLst/>
        </c:spPr>
      </c:pivotFmt>
      <c:pivotFmt>
        <c:idx val="7"/>
        <c:spPr>
          <a:solidFill>
            <a:srgbClr val="FF0000"/>
          </a:solidFill>
          <a:ln>
            <a:noFill/>
          </a:ln>
          <a:effectLst/>
        </c:spPr>
      </c:pivotFmt>
      <c:pivotFmt>
        <c:idx val="8"/>
        <c:spPr>
          <a:solidFill>
            <a:srgbClr val="7030A0"/>
          </a:solidFill>
          <a:ln>
            <a:noFill/>
          </a:ln>
          <a:effectLst/>
        </c:spPr>
      </c:pivotFmt>
      <c:pivotFmt>
        <c:idx val="9"/>
        <c:spPr>
          <a:solidFill>
            <a:srgbClr val="002060"/>
          </a:solidFill>
          <a:ln>
            <a:noFill/>
          </a:ln>
          <a:effectLst/>
        </c:spPr>
      </c:pivotFmt>
      <c:pivotFmt>
        <c:idx val="10"/>
        <c:spPr>
          <a:solidFill>
            <a:srgbClr val="ED7D31"/>
          </a:solidFill>
          <a:ln>
            <a:noFill/>
          </a:ln>
          <a:effectLst/>
        </c:spPr>
      </c:pivotFmt>
      <c:pivotFmt>
        <c:idx val="11"/>
        <c:spPr>
          <a:solidFill>
            <a:srgbClr val="C00000"/>
          </a:solidFill>
          <a:ln>
            <a:noFill/>
          </a:ln>
          <a:effectLst/>
        </c:spPr>
      </c:pivotFmt>
      <c:pivotFmt>
        <c:idx val="12"/>
        <c:spPr>
          <a:solidFill>
            <a:srgbClr val="47ADAA"/>
          </a:solidFill>
          <a:ln>
            <a:noFill/>
          </a:ln>
          <a:effectLst/>
        </c:spPr>
      </c:pivotFmt>
      <c:pivotFmt>
        <c:idx val="13"/>
        <c:spPr>
          <a:solidFill>
            <a:srgbClr val="EB0CBA"/>
          </a:solidFill>
          <a:ln>
            <a:noFill/>
          </a:ln>
          <a:effectLst/>
        </c:spPr>
      </c:pivotFmt>
      <c:pivotFmt>
        <c:idx val="14"/>
        <c:spPr>
          <a:solidFill>
            <a:srgbClr val="0070C0"/>
          </a:solidFill>
          <a:ln>
            <a:noFill/>
          </a:ln>
          <a:effectLst/>
        </c:spPr>
      </c:pivotFmt>
      <c:pivotFmt>
        <c:idx val="15"/>
        <c:spPr>
          <a:solidFill>
            <a:srgbClr val="F0660A"/>
          </a:solidFill>
          <a:ln>
            <a:noFill/>
          </a:ln>
          <a:effectLst/>
        </c:spPr>
      </c:pivotFmt>
      <c:pivotFmt>
        <c:idx val="16"/>
        <c:spPr>
          <a:solidFill>
            <a:srgbClr val="A5A5A5"/>
          </a:solidFill>
          <a:ln>
            <a:noFill/>
          </a:ln>
          <a:effectLst/>
        </c:spPr>
      </c:pivotFmt>
      <c:pivotFmt>
        <c:idx val="17"/>
        <c:spPr>
          <a:solidFill>
            <a:srgbClr val="C90815"/>
          </a:solidFill>
          <a:ln>
            <a:noFill/>
          </a:ln>
          <a:effectLst/>
        </c:spPr>
      </c:pivotFmt>
      <c:pivotFmt>
        <c:idx val="18"/>
        <c:spPr>
          <a:solidFill>
            <a:srgbClr val="000000"/>
          </a:solidFill>
          <a:ln>
            <a:noFill/>
          </a:ln>
          <a:effectLst/>
        </c:spPr>
      </c:pivotFmt>
      <c:pivotFmt>
        <c:idx val="19"/>
        <c:spPr>
          <a:solidFill>
            <a:srgbClr val="70AD47"/>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0000"/>
                  </a:solidFill>
                  <a:latin typeface="Times New Roman"/>
                  <a:ea typeface="Times New Roman"/>
                  <a:cs typeface="Times New Roman"/>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0"/>
        <c:spPr>
          <a:solidFill>
            <a:srgbClr val="000000"/>
          </a:solidFill>
          <a:ln>
            <a:noFill/>
          </a:ln>
          <a:effectLst/>
        </c:spPr>
      </c:pivotFmt>
      <c:pivotFmt>
        <c:idx val="21"/>
        <c:spPr>
          <a:solidFill>
            <a:srgbClr val="C90815"/>
          </a:solidFill>
          <a:ln>
            <a:noFill/>
          </a:ln>
          <a:effectLst/>
        </c:spPr>
      </c:pivotFmt>
      <c:pivotFmt>
        <c:idx val="22"/>
        <c:spPr>
          <a:solidFill>
            <a:srgbClr val="A5A5A5"/>
          </a:solidFill>
          <a:ln>
            <a:noFill/>
          </a:ln>
          <a:effectLst/>
        </c:spPr>
      </c:pivotFmt>
      <c:pivotFmt>
        <c:idx val="23"/>
        <c:spPr>
          <a:solidFill>
            <a:srgbClr val="F0660A"/>
          </a:solidFill>
          <a:ln>
            <a:noFill/>
          </a:ln>
          <a:effectLst/>
        </c:spPr>
      </c:pivotFmt>
      <c:pivotFmt>
        <c:idx val="24"/>
        <c:spPr>
          <a:solidFill>
            <a:srgbClr val="0070C0"/>
          </a:solidFill>
          <a:ln>
            <a:noFill/>
          </a:ln>
          <a:effectLst/>
        </c:spPr>
      </c:pivotFmt>
      <c:pivotFmt>
        <c:idx val="25"/>
        <c:spPr>
          <a:solidFill>
            <a:srgbClr val="EB0CBA"/>
          </a:solidFill>
          <a:ln>
            <a:noFill/>
          </a:ln>
          <a:effectLst/>
        </c:spPr>
      </c:pivotFmt>
      <c:pivotFmt>
        <c:idx val="26"/>
        <c:spPr>
          <a:solidFill>
            <a:srgbClr val="47ADAA"/>
          </a:solidFill>
          <a:ln>
            <a:noFill/>
          </a:ln>
          <a:effectLst/>
        </c:spPr>
      </c:pivotFmt>
      <c:pivotFmt>
        <c:idx val="27"/>
        <c:spPr>
          <a:solidFill>
            <a:srgbClr val="C00000"/>
          </a:solidFill>
          <a:ln>
            <a:noFill/>
          </a:ln>
          <a:effectLst/>
        </c:spPr>
      </c:pivotFmt>
      <c:pivotFmt>
        <c:idx val="28"/>
        <c:spPr>
          <a:solidFill>
            <a:srgbClr val="ED7D31"/>
          </a:solidFill>
          <a:ln>
            <a:noFill/>
          </a:ln>
          <a:effectLst/>
        </c:spPr>
      </c:pivotFmt>
      <c:pivotFmt>
        <c:idx val="29"/>
        <c:spPr>
          <a:solidFill>
            <a:srgbClr val="002060"/>
          </a:solidFill>
          <a:ln>
            <a:noFill/>
          </a:ln>
          <a:effectLst/>
        </c:spPr>
      </c:pivotFmt>
      <c:pivotFmt>
        <c:idx val="30"/>
        <c:spPr>
          <a:solidFill>
            <a:srgbClr val="7030A0"/>
          </a:solidFill>
          <a:ln>
            <a:noFill/>
          </a:ln>
          <a:effectLst/>
        </c:spPr>
      </c:pivotFmt>
      <c:pivotFmt>
        <c:idx val="31"/>
        <c:spPr>
          <a:solidFill>
            <a:srgbClr val="FF0000"/>
          </a:solidFill>
          <a:ln>
            <a:noFill/>
          </a:ln>
          <a:effectLst/>
        </c:spPr>
      </c:pivotFmt>
      <c:pivotFmt>
        <c:idx val="32"/>
        <c:spPr>
          <a:solidFill>
            <a:srgbClr val="00B050"/>
          </a:solidFill>
          <a:ln>
            <a:noFill/>
          </a:ln>
          <a:effectLst/>
        </c:spPr>
      </c:pivotFmt>
      <c:pivotFmt>
        <c:idx val="33"/>
        <c:spPr>
          <a:solidFill>
            <a:srgbClr val="FFC000"/>
          </a:solidFill>
          <a:ln>
            <a:noFill/>
          </a:ln>
          <a:effectLst/>
        </c:spPr>
      </c:pivotFmt>
      <c:pivotFmt>
        <c:idx val="34"/>
        <c:spPr>
          <a:solidFill>
            <a:srgbClr val="70AD47"/>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0000"/>
                  </a:solidFill>
                  <a:latin typeface="Times New Roman"/>
                  <a:ea typeface="Times New Roman"/>
                  <a:cs typeface="Times New Roman"/>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5"/>
        <c:spPr>
          <a:solidFill>
            <a:srgbClr val="000000"/>
          </a:solidFill>
          <a:ln>
            <a:noFill/>
          </a:ln>
          <a:effectLst/>
        </c:spPr>
      </c:pivotFmt>
      <c:pivotFmt>
        <c:idx val="36"/>
        <c:spPr>
          <a:solidFill>
            <a:srgbClr val="C90815"/>
          </a:solidFill>
          <a:ln>
            <a:noFill/>
          </a:ln>
          <a:effectLst/>
        </c:spPr>
      </c:pivotFmt>
      <c:pivotFmt>
        <c:idx val="37"/>
        <c:spPr>
          <a:solidFill>
            <a:srgbClr val="A5A5A5"/>
          </a:solidFill>
          <a:ln>
            <a:noFill/>
          </a:ln>
          <a:effectLst/>
        </c:spPr>
      </c:pivotFmt>
      <c:pivotFmt>
        <c:idx val="38"/>
        <c:spPr>
          <a:solidFill>
            <a:srgbClr val="F0660A"/>
          </a:solidFill>
          <a:ln>
            <a:noFill/>
          </a:ln>
          <a:effectLst/>
        </c:spPr>
      </c:pivotFmt>
      <c:pivotFmt>
        <c:idx val="39"/>
        <c:spPr>
          <a:solidFill>
            <a:srgbClr val="0070C0"/>
          </a:solidFill>
          <a:ln>
            <a:noFill/>
          </a:ln>
          <a:effectLst/>
        </c:spPr>
      </c:pivotFmt>
      <c:pivotFmt>
        <c:idx val="40"/>
        <c:spPr>
          <a:solidFill>
            <a:srgbClr val="EB0CBA"/>
          </a:solidFill>
          <a:ln>
            <a:noFill/>
          </a:ln>
          <a:effectLst/>
        </c:spPr>
      </c:pivotFmt>
      <c:pivotFmt>
        <c:idx val="41"/>
        <c:spPr>
          <a:solidFill>
            <a:srgbClr val="47ADAA"/>
          </a:solidFill>
          <a:ln>
            <a:noFill/>
          </a:ln>
          <a:effectLst/>
        </c:spPr>
      </c:pivotFmt>
      <c:pivotFmt>
        <c:idx val="42"/>
        <c:spPr>
          <a:solidFill>
            <a:srgbClr val="C00000"/>
          </a:solidFill>
          <a:ln>
            <a:noFill/>
          </a:ln>
          <a:effectLst/>
        </c:spPr>
      </c:pivotFmt>
      <c:pivotFmt>
        <c:idx val="43"/>
        <c:spPr>
          <a:solidFill>
            <a:srgbClr val="ED7D31"/>
          </a:solidFill>
          <a:ln>
            <a:noFill/>
          </a:ln>
          <a:effectLst/>
        </c:spPr>
      </c:pivotFmt>
      <c:pivotFmt>
        <c:idx val="44"/>
        <c:spPr>
          <a:solidFill>
            <a:srgbClr val="002060"/>
          </a:solidFill>
          <a:ln>
            <a:noFill/>
          </a:ln>
          <a:effectLst/>
        </c:spPr>
      </c:pivotFmt>
      <c:pivotFmt>
        <c:idx val="45"/>
        <c:spPr>
          <a:solidFill>
            <a:srgbClr val="7030A0"/>
          </a:solidFill>
          <a:ln>
            <a:noFill/>
          </a:ln>
          <a:effectLst/>
        </c:spPr>
      </c:pivotFmt>
      <c:pivotFmt>
        <c:idx val="46"/>
        <c:spPr>
          <a:solidFill>
            <a:srgbClr val="FF0000"/>
          </a:solidFill>
          <a:ln>
            <a:noFill/>
          </a:ln>
          <a:effectLst/>
        </c:spPr>
      </c:pivotFmt>
      <c:pivotFmt>
        <c:idx val="47"/>
        <c:spPr>
          <a:solidFill>
            <a:srgbClr val="00B050"/>
          </a:solidFill>
          <a:ln>
            <a:noFill/>
          </a:ln>
          <a:effectLst/>
        </c:spPr>
      </c:pivotFmt>
      <c:pivotFmt>
        <c:idx val="48"/>
        <c:spPr>
          <a:solidFill>
            <a:srgbClr val="FFC000"/>
          </a:solidFill>
          <a:ln>
            <a:noFill/>
          </a:ln>
          <a:effectLst/>
        </c:spPr>
      </c:pivotFmt>
    </c:pivotFmts>
    <c:plotArea>
      <c:layout/>
      <c:barChart>
        <c:barDir val="bar"/>
        <c:grouping val="clustered"/>
        <c:varyColors val="0"/>
        <c:ser>
          <c:idx val="0"/>
          <c:order val="0"/>
          <c:tx>
            <c:strRef>
              <c:f>Sheet1!$B$3</c:f>
              <c:strCache>
                <c:ptCount val="1"/>
                <c:pt idx="0">
                  <c:v>Total</c:v>
                </c:pt>
              </c:strCache>
            </c:strRef>
          </c:tx>
          <c:spPr>
            <a:solidFill>
              <a:srgbClr val="70AD47"/>
            </a:solidFill>
            <a:ln>
              <a:noFill/>
            </a:ln>
            <a:effectLst/>
          </c:spPr>
          <c:invertIfNegative val="0"/>
          <c:dPt>
            <c:idx val="0"/>
            <c:invertIfNegative val="0"/>
            <c:bubble3D val="0"/>
            <c:spPr>
              <a:solidFill>
                <a:srgbClr val="000000"/>
              </a:solidFill>
              <a:ln>
                <a:noFill/>
              </a:ln>
              <a:effectLst/>
            </c:spPr>
            <c:extLst>
              <c:ext xmlns:c16="http://schemas.microsoft.com/office/drawing/2014/chart" uri="{C3380CC4-5D6E-409C-BE32-E72D297353CC}">
                <c16:uniqueId val="{00000001-C3D3-4E73-A71D-14EC81D058F8}"/>
              </c:ext>
            </c:extLst>
          </c:dPt>
          <c:dPt>
            <c:idx val="1"/>
            <c:invertIfNegative val="0"/>
            <c:bubble3D val="0"/>
            <c:spPr>
              <a:solidFill>
                <a:srgbClr val="C90815"/>
              </a:solidFill>
              <a:ln>
                <a:noFill/>
              </a:ln>
              <a:effectLst/>
            </c:spPr>
            <c:extLst>
              <c:ext xmlns:c16="http://schemas.microsoft.com/office/drawing/2014/chart" uri="{C3380CC4-5D6E-409C-BE32-E72D297353CC}">
                <c16:uniqueId val="{00000003-C3D3-4E73-A71D-14EC81D058F8}"/>
              </c:ext>
            </c:extLst>
          </c:dPt>
          <c:dPt>
            <c:idx val="3"/>
            <c:invertIfNegative val="0"/>
            <c:bubble3D val="0"/>
            <c:spPr>
              <a:solidFill>
                <a:srgbClr val="A5A5A5"/>
              </a:solidFill>
              <a:ln>
                <a:noFill/>
              </a:ln>
              <a:effectLst/>
            </c:spPr>
            <c:extLst>
              <c:ext xmlns:c16="http://schemas.microsoft.com/office/drawing/2014/chart" uri="{C3380CC4-5D6E-409C-BE32-E72D297353CC}">
                <c16:uniqueId val="{00000005-C3D3-4E73-A71D-14EC81D058F8}"/>
              </c:ext>
            </c:extLst>
          </c:dPt>
          <c:dPt>
            <c:idx val="4"/>
            <c:invertIfNegative val="0"/>
            <c:bubble3D val="0"/>
            <c:spPr>
              <a:solidFill>
                <a:srgbClr val="F0660A"/>
              </a:solidFill>
              <a:ln>
                <a:noFill/>
              </a:ln>
              <a:effectLst/>
            </c:spPr>
            <c:extLst>
              <c:ext xmlns:c16="http://schemas.microsoft.com/office/drawing/2014/chart" uri="{C3380CC4-5D6E-409C-BE32-E72D297353CC}">
                <c16:uniqueId val="{00000007-C3D3-4E73-A71D-14EC81D058F8}"/>
              </c:ext>
            </c:extLst>
          </c:dPt>
          <c:dPt>
            <c:idx val="5"/>
            <c:invertIfNegative val="0"/>
            <c:bubble3D val="0"/>
            <c:spPr>
              <a:solidFill>
                <a:srgbClr val="0070C0"/>
              </a:solidFill>
              <a:ln>
                <a:noFill/>
              </a:ln>
              <a:effectLst/>
            </c:spPr>
            <c:extLst>
              <c:ext xmlns:c16="http://schemas.microsoft.com/office/drawing/2014/chart" uri="{C3380CC4-5D6E-409C-BE32-E72D297353CC}">
                <c16:uniqueId val="{00000009-C3D3-4E73-A71D-14EC81D058F8}"/>
              </c:ext>
            </c:extLst>
          </c:dPt>
          <c:dPt>
            <c:idx val="6"/>
            <c:invertIfNegative val="0"/>
            <c:bubble3D val="0"/>
            <c:spPr>
              <a:solidFill>
                <a:srgbClr val="EB0CBA"/>
              </a:solidFill>
              <a:ln>
                <a:noFill/>
              </a:ln>
              <a:effectLst/>
            </c:spPr>
            <c:extLst>
              <c:ext xmlns:c16="http://schemas.microsoft.com/office/drawing/2014/chart" uri="{C3380CC4-5D6E-409C-BE32-E72D297353CC}">
                <c16:uniqueId val="{0000000B-C3D3-4E73-A71D-14EC81D058F8}"/>
              </c:ext>
            </c:extLst>
          </c:dPt>
          <c:dPt>
            <c:idx val="7"/>
            <c:invertIfNegative val="0"/>
            <c:bubble3D val="0"/>
            <c:spPr>
              <a:solidFill>
                <a:srgbClr val="47ADAA"/>
              </a:solidFill>
              <a:ln>
                <a:noFill/>
              </a:ln>
              <a:effectLst/>
            </c:spPr>
            <c:extLst>
              <c:ext xmlns:c16="http://schemas.microsoft.com/office/drawing/2014/chart" uri="{C3380CC4-5D6E-409C-BE32-E72D297353CC}">
                <c16:uniqueId val="{0000000D-C3D3-4E73-A71D-14EC81D058F8}"/>
              </c:ext>
            </c:extLst>
          </c:dPt>
          <c:dPt>
            <c:idx val="8"/>
            <c:invertIfNegative val="0"/>
            <c:bubble3D val="0"/>
            <c:spPr>
              <a:solidFill>
                <a:srgbClr val="C00000"/>
              </a:solidFill>
              <a:ln>
                <a:noFill/>
              </a:ln>
              <a:effectLst/>
            </c:spPr>
            <c:extLst>
              <c:ext xmlns:c16="http://schemas.microsoft.com/office/drawing/2014/chart" uri="{C3380CC4-5D6E-409C-BE32-E72D297353CC}">
                <c16:uniqueId val="{0000000F-C3D3-4E73-A71D-14EC81D058F8}"/>
              </c:ext>
            </c:extLst>
          </c:dPt>
          <c:dPt>
            <c:idx val="9"/>
            <c:invertIfNegative val="0"/>
            <c:bubble3D val="0"/>
            <c:spPr>
              <a:solidFill>
                <a:srgbClr val="ED7D31"/>
              </a:solidFill>
              <a:ln>
                <a:noFill/>
              </a:ln>
              <a:effectLst/>
            </c:spPr>
            <c:extLst>
              <c:ext xmlns:c16="http://schemas.microsoft.com/office/drawing/2014/chart" uri="{C3380CC4-5D6E-409C-BE32-E72D297353CC}">
                <c16:uniqueId val="{00000011-C3D3-4E73-A71D-14EC81D058F8}"/>
              </c:ext>
            </c:extLst>
          </c:dPt>
          <c:dPt>
            <c:idx val="10"/>
            <c:invertIfNegative val="0"/>
            <c:bubble3D val="0"/>
            <c:spPr>
              <a:solidFill>
                <a:srgbClr val="002060"/>
              </a:solidFill>
              <a:ln>
                <a:noFill/>
              </a:ln>
              <a:effectLst/>
            </c:spPr>
            <c:extLst>
              <c:ext xmlns:c16="http://schemas.microsoft.com/office/drawing/2014/chart" uri="{C3380CC4-5D6E-409C-BE32-E72D297353CC}">
                <c16:uniqueId val="{00000013-C3D3-4E73-A71D-14EC81D058F8}"/>
              </c:ext>
            </c:extLst>
          </c:dPt>
          <c:dPt>
            <c:idx val="11"/>
            <c:invertIfNegative val="0"/>
            <c:bubble3D val="0"/>
            <c:spPr>
              <a:solidFill>
                <a:srgbClr val="7030A0"/>
              </a:solidFill>
              <a:ln>
                <a:noFill/>
              </a:ln>
              <a:effectLst/>
            </c:spPr>
            <c:extLst>
              <c:ext xmlns:c16="http://schemas.microsoft.com/office/drawing/2014/chart" uri="{C3380CC4-5D6E-409C-BE32-E72D297353CC}">
                <c16:uniqueId val="{00000015-C3D3-4E73-A71D-14EC81D058F8}"/>
              </c:ext>
            </c:extLst>
          </c:dPt>
          <c:dPt>
            <c:idx val="12"/>
            <c:invertIfNegative val="0"/>
            <c:bubble3D val="0"/>
            <c:spPr>
              <a:solidFill>
                <a:srgbClr val="FF0000"/>
              </a:solidFill>
              <a:ln>
                <a:noFill/>
              </a:ln>
              <a:effectLst/>
            </c:spPr>
            <c:extLst>
              <c:ext xmlns:c16="http://schemas.microsoft.com/office/drawing/2014/chart" uri="{C3380CC4-5D6E-409C-BE32-E72D297353CC}">
                <c16:uniqueId val="{00000017-C3D3-4E73-A71D-14EC81D058F8}"/>
              </c:ext>
            </c:extLst>
          </c:dPt>
          <c:dPt>
            <c:idx val="13"/>
            <c:invertIfNegative val="0"/>
            <c:bubble3D val="0"/>
            <c:spPr>
              <a:solidFill>
                <a:srgbClr val="00B050"/>
              </a:solidFill>
              <a:ln>
                <a:noFill/>
              </a:ln>
              <a:effectLst/>
            </c:spPr>
            <c:extLst>
              <c:ext xmlns:c16="http://schemas.microsoft.com/office/drawing/2014/chart" uri="{C3380CC4-5D6E-409C-BE32-E72D297353CC}">
                <c16:uniqueId val="{00000019-C3D3-4E73-A71D-14EC81D058F8}"/>
              </c:ext>
            </c:extLst>
          </c:dPt>
          <c:dPt>
            <c:idx val="14"/>
            <c:invertIfNegative val="0"/>
            <c:bubble3D val="0"/>
            <c:spPr>
              <a:solidFill>
                <a:srgbClr val="FFC000"/>
              </a:solidFill>
              <a:ln>
                <a:noFill/>
              </a:ln>
              <a:effectLst/>
            </c:spPr>
            <c:extLst>
              <c:ext xmlns:c16="http://schemas.microsoft.com/office/drawing/2014/chart" uri="{C3380CC4-5D6E-409C-BE32-E72D297353CC}">
                <c16:uniqueId val="{0000001B-C3D3-4E73-A71D-14EC81D058F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0000"/>
                    </a:solidFill>
                    <a:latin typeface="Times New Roman"/>
                    <a:ea typeface="Times New Roman"/>
                    <a:cs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Sheet1!$A$4:$A$19</c:f>
              <c:strCache>
                <c:ptCount val="15"/>
                <c:pt idx="0">
                  <c:v>Acura</c:v>
                </c:pt>
                <c:pt idx="1">
                  <c:v>Cadillac</c:v>
                </c:pt>
                <c:pt idx="2">
                  <c:v>Chrysler</c:v>
                </c:pt>
                <c:pt idx="3">
                  <c:v>Dodge</c:v>
                </c:pt>
                <c:pt idx="4">
                  <c:v>Hyundai</c:v>
                </c:pt>
                <c:pt idx="5">
                  <c:v>Infiniti</c:v>
                </c:pt>
                <c:pt idx="6">
                  <c:v>Land Rover</c:v>
                </c:pt>
                <c:pt idx="7">
                  <c:v>Maserati</c:v>
                </c:pt>
                <c:pt idx="8">
                  <c:v>Mitsubishi</c:v>
                </c:pt>
                <c:pt idx="9">
                  <c:v>None</c:v>
                </c:pt>
                <c:pt idx="10">
                  <c:v>Oldsmobile</c:v>
                </c:pt>
                <c:pt idx="11">
                  <c:v>Ram</c:v>
                </c:pt>
                <c:pt idx="12">
                  <c:v>Subaru</c:v>
                </c:pt>
                <c:pt idx="13">
                  <c:v>Toyota</c:v>
                </c:pt>
                <c:pt idx="14">
                  <c:v>Volkswagen</c:v>
                </c:pt>
              </c:strCache>
            </c:strRef>
          </c:cat>
          <c:val>
            <c:numRef>
              <c:f>Sheet1!$B$4:$B$19</c:f>
              <c:numCache>
                <c:formatCode>0.00%</c:formatCode>
                <c:ptCount val="15"/>
                <c:pt idx="0">
                  <c:v>2.0613042994867801E-2</c:v>
                </c:pt>
                <c:pt idx="1">
                  <c:v>2.9390431806366225E-2</c:v>
                </c:pt>
                <c:pt idx="2">
                  <c:v>0.12161208191834245</c:v>
                </c:pt>
                <c:pt idx="3">
                  <c:v>7.3812073773401002E-2</c:v>
                </c:pt>
                <c:pt idx="4">
                  <c:v>3.2147193850883722E-2</c:v>
                </c:pt>
                <c:pt idx="5">
                  <c:v>7.756449817118384E-2</c:v>
                </c:pt>
                <c:pt idx="6">
                  <c:v>4.3139305464785831E-2</c:v>
                </c:pt>
                <c:pt idx="7">
                  <c:v>0.18032019412675296</c:v>
                </c:pt>
                <c:pt idx="8">
                  <c:v>1.9195635973023914E-2</c:v>
                </c:pt>
                <c:pt idx="9">
                  <c:v>2.2922189219312047E-2</c:v>
                </c:pt>
                <c:pt idx="10">
                  <c:v>0.18032019412675296</c:v>
                </c:pt>
                <c:pt idx="11">
                  <c:v>2.8741370745887136E-2</c:v>
                </c:pt>
                <c:pt idx="12">
                  <c:v>1.9245031328132423E-2</c:v>
                </c:pt>
                <c:pt idx="13">
                  <c:v>2.3276177863255358E-2</c:v>
                </c:pt>
                <c:pt idx="14">
                  <c:v>0.12770057863705236</c:v>
                </c:pt>
              </c:numCache>
            </c:numRef>
          </c:val>
          <c:extLst>
            <c:ext xmlns:c16="http://schemas.microsoft.com/office/drawing/2014/chart" uri="{C3380CC4-5D6E-409C-BE32-E72D297353CC}">
              <c16:uniqueId val="{0000001C-C3D3-4E73-A71D-14EC81D058F8}"/>
            </c:ext>
          </c:extLst>
        </c:ser>
        <c:dLbls>
          <c:showLegendKey val="0"/>
          <c:showVal val="0"/>
          <c:showCatName val="0"/>
          <c:showSerName val="0"/>
          <c:showPercent val="0"/>
          <c:showBubbleSize val="0"/>
        </c:dLbls>
        <c:gapWidth val="47"/>
        <c:axId val="1637403655"/>
        <c:axId val="2138490375"/>
      </c:barChart>
      <c:catAx>
        <c:axId val="1637403655"/>
        <c:scaling>
          <c:orientation val="minMax"/>
        </c:scaling>
        <c:delete val="0"/>
        <c:axPos val="l"/>
        <c:numFmt formatCode="General" sourceLinked="1"/>
        <c:majorTickMark val="none"/>
        <c:minorTickMark val="none"/>
        <c:tickLblPos val="nextTo"/>
        <c:spPr>
          <a:noFill/>
          <a:ln w="9525" cap="flat" cmpd="sng" algn="ctr">
            <a:solidFill>
              <a:srgbClr val="000000"/>
            </a:solidFill>
            <a:prstDash val="solid"/>
            <a:round/>
          </a:ln>
          <a:effectLst/>
        </c:spPr>
        <c:txPr>
          <a:bodyPr rot="-60000000" spcFirstLastPara="1" vertOverflow="ellipsis" vert="horz" wrap="square" anchor="ctr" anchorCtr="1"/>
          <a:lstStyle/>
          <a:p>
            <a:pPr>
              <a:defRPr sz="900" b="0" i="0" u="none" strike="noStrike" kern="1200" baseline="0">
                <a:solidFill>
                  <a:srgbClr val="000000"/>
                </a:solidFill>
                <a:latin typeface="Times New Roman"/>
                <a:ea typeface="Times New Roman"/>
                <a:cs typeface="Times New Roman"/>
              </a:defRPr>
            </a:pPr>
            <a:endParaRPr lang="en-US"/>
          </a:p>
        </c:txPr>
        <c:crossAx val="2138490375"/>
        <c:crosses val="autoZero"/>
        <c:auto val="1"/>
        <c:lblAlgn val="ctr"/>
        <c:lblOffset val="100"/>
        <c:noMultiLvlLbl val="0"/>
      </c:catAx>
      <c:valAx>
        <c:axId val="2138490375"/>
        <c:scaling>
          <c:orientation val="minMax"/>
        </c:scaling>
        <c:delete val="1"/>
        <c:axPos val="b"/>
        <c:numFmt formatCode="0.00%" sourceLinked="1"/>
        <c:majorTickMark val="none"/>
        <c:minorTickMark val="none"/>
        <c:tickLblPos val="nextTo"/>
        <c:crossAx val="163740365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[revenue by model.xlsx]Sheet1!PivotTable1</c:name>
    <c:fmtId val="-1"/>
  </c:pivotSource>
  <c:chart>
    <c:title>
      <c:tx>
        <c:rich>
          <a:bodyPr rot="0" spcFirstLastPara="1" vertOverflow="ellipsis" vert="horz" wrap="square" anchor="ctr" anchorCtr="1"/>
          <a:lstStyle/>
          <a:p>
            <a:pPr>
              <a:defRPr sz="1400" b="1" i="0" u="none" strike="noStrike" kern="1200" spc="0" baseline="0">
                <a:solidFill>
                  <a:srgbClr val="000000"/>
                </a:solidFill>
                <a:latin typeface="Times New Roman"/>
                <a:ea typeface="Times New Roman"/>
                <a:cs typeface="Times New Roman"/>
              </a:defRPr>
            </a:pPr>
            <a:r>
              <a:rPr lang="en-US"/>
              <a:t>Top 20 Best Selling Car Models (1982 - 2015)</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000000"/>
              </a:solidFill>
              <a:latin typeface="Times New Roman"/>
              <a:ea typeface="Times New Roman"/>
              <a:cs typeface="Times New Roman"/>
            </a:defRPr>
          </a:pPr>
          <a:endParaRPr lang="en-US"/>
        </a:p>
      </c:txPr>
    </c:title>
    <c:autoTitleDeleted val="0"/>
    <c:pivotFmts>
      <c:pivotFmt>
        <c:idx val="0"/>
        <c:spPr>
          <a:solidFill>
            <a:srgbClr val="70AD47"/>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FF00"/>
          </a:solidFill>
          <a:ln>
            <a:noFill/>
          </a:ln>
          <a:effectLst/>
        </c:spPr>
      </c:pivotFmt>
      <c:pivotFmt>
        <c:idx val="2"/>
        <c:spPr>
          <a:solidFill>
            <a:srgbClr val="FF0000"/>
          </a:solidFill>
          <a:ln>
            <a:noFill/>
          </a:ln>
          <a:effectLst/>
        </c:spPr>
      </c:pivotFmt>
      <c:pivotFmt>
        <c:idx val="3"/>
        <c:spPr>
          <a:solidFill>
            <a:srgbClr val="7030A0"/>
          </a:solidFill>
          <a:ln>
            <a:noFill/>
          </a:ln>
          <a:effectLst/>
        </c:spPr>
      </c:pivotFmt>
      <c:pivotFmt>
        <c:idx val="4"/>
        <c:spPr>
          <a:solidFill>
            <a:srgbClr val="00B0F0"/>
          </a:solidFill>
          <a:ln>
            <a:noFill/>
          </a:ln>
          <a:effectLst/>
        </c:spPr>
      </c:pivotFmt>
      <c:pivotFmt>
        <c:idx val="5"/>
        <c:spPr>
          <a:solidFill>
            <a:srgbClr val="0070C0"/>
          </a:solidFill>
          <a:ln>
            <a:noFill/>
          </a:ln>
          <a:effectLst/>
        </c:spPr>
      </c:pivotFmt>
      <c:pivotFmt>
        <c:idx val="6"/>
        <c:spPr>
          <a:solidFill>
            <a:srgbClr val="002060"/>
          </a:solidFill>
          <a:ln>
            <a:noFill/>
          </a:ln>
          <a:effectLst/>
        </c:spPr>
      </c:pivotFmt>
      <c:pivotFmt>
        <c:idx val="7"/>
        <c:spPr>
          <a:solidFill>
            <a:srgbClr val="C00000"/>
          </a:solidFill>
          <a:ln>
            <a:noFill/>
          </a:ln>
          <a:effectLst/>
        </c:spPr>
      </c:pivotFmt>
      <c:pivotFmt>
        <c:idx val="8"/>
        <c:spPr>
          <a:solidFill>
            <a:srgbClr val="A5A5A5"/>
          </a:solidFill>
          <a:ln>
            <a:noFill/>
          </a:ln>
          <a:effectLst/>
        </c:spPr>
      </c:pivotFmt>
      <c:pivotFmt>
        <c:idx val="9"/>
        <c:spPr>
          <a:solidFill>
            <a:srgbClr val="DB0D9D"/>
          </a:solidFill>
          <a:ln>
            <a:noFill/>
          </a:ln>
          <a:effectLst/>
        </c:spPr>
      </c:pivotFmt>
      <c:pivotFmt>
        <c:idx val="10"/>
        <c:spPr>
          <a:solidFill>
            <a:srgbClr val="0ACFF2"/>
          </a:solidFill>
          <a:ln>
            <a:noFill/>
          </a:ln>
          <a:effectLst/>
        </c:spPr>
      </c:pivotFmt>
      <c:pivotFmt>
        <c:idx val="11"/>
        <c:spPr>
          <a:solidFill>
            <a:srgbClr val="C65911"/>
          </a:solidFill>
          <a:ln>
            <a:noFill/>
          </a:ln>
          <a:effectLst/>
        </c:spPr>
      </c:pivotFmt>
      <c:pivotFmt>
        <c:idx val="12"/>
        <c:spPr>
          <a:solidFill>
            <a:srgbClr val="7030A0"/>
          </a:solidFill>
          <a:ln>
            <a:noFill/>
          </a:ln>
          <a:effectLst/>
        </c:spPr>
      </c:pivotFmt>
      <c:pivotFmt>
        <c:idx val="13"/>
        <c:spPr>
          <a:solidFill>
            <a:srgbClr val="000000"/>
          </a:solidFill>
          <a:ln>
            <a:noFill/>
          </a:ln>
          <a:effectLst/>
        </c:spPr>
      </c:pivotFmt>
      <c:pivotFmt>
        <c:idx val="14"/>
        <c:spPr>
          <a:solidFill>
            <a:srgbClr val="548235"/>
          </a:solidFill>
          <a:ln>
            <a:noFill/>
          </a:ln>
          <a:effectLst/>
        </c:spPr>
      </c:pivotFmt>
      <c:pivotFmt>
        <c:idx val="15"/>
        <c:spPr>
          <a:solidFill>
            <a:srgbClr val="FFC000"/>
          </a:solidFill>
          <a:ln>
            <a:noFill/>
          </a:ln>
          <a:effectLst/>
        </c:spPr>
      </c:pivotFmt>
      <c:pivotFmt>
        <c:idx val="16"/>
        <c:spPr>
          <a:solidFill>
            <a:srgbClr val="FF0000"/>
          </a:solidFill>
          <a:ln>
            <a:noFill/>
          </a:ln>
          <a:effectLst/>
        </c:spPr>
      </c:pivotFmt>
      <c:pivotFmt>
        <c:idx val="17"/>
        <c:spPr>
          <a:solidFill>
            <a:srgbClr val="2506D4"/>
          </a:solidFill>
          <a:ln>
            <a:noFill/>
          </a:ln>
          <a:effectLst/>
        </c:spPr>
      </c:pivotFmt>
      <c:pivotFmt>
        <c:idx val="18"/>
        <c:spPr>
          <a:solidFill>
            <a:srgbClr val="F5F114"/>
          </a:solidFill>
          <a:ln>
            <a:noFill/>
          </a:ln>
          <a:effectLst/>
        </c:spPr>
      </c:pivotFmt>
      <c:pivotFmt>
        <c:idx val="19"/>
        <c:spPr>
          <a:solidFill>
            <a:srgbClr val="4705A3"/>
          </a:solidFill>
          <a:ln>
            <a:noFill/>
          </a:ln>
          <a:effectLst/>
        </c:spPr>
      </c:pivotFmt>
      <c:pivotFmt>
        <c:idx val="20"/>
        <c:spPr>
          <a:solidFill>
            <a:srgbClr val="70AD47"/>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rgbClr val="4705A3"/>
          </a:solidFill>
          <a:ln>
            <a:noFill/>
          </a:ln>
          <a:effectLst/>
        </c:spPr>
      </c:pivotFmt>
      <c:pivotFmt>
        <c:idx val="22"/>
        <c:spPr>
          <a:solidFill>
            <a:srgbClr val="F5F114"/>
          </a:solidFill>
          <a:ln>
            <a:noFill/>
          </a:ln>
          <a:effectLst/>
        </c:spPr>
      </c:pivotFmt>
      <c:pivotFmt>
        <c:idx val="23"/>
        <c:spPr>
          <a:solidFill>
            <a:srgbClr val="2506D4"/>
          </a:solidFill>
          <a:ln>
            <a:noFill/>
          </a:ln>
          <a:effectLst/>
        </c:spPr>
      </c:pivotFmt>
      <c:pivotFmt>
        <c:idx val="24"/>
        <c:spPr>
          <a:solidFill>
            <a:srgbClr val="FF0000"/>
          </a:solidFill>
          <a:ln>
            <a:noFill/>
          </a:ln>
          <a:effectLst/>
        </c:spPr>
      </c:pivotFmt>
      <c:pivotFmt>
        <c:idx val="25"/>
        <c:spPr>
          <a:solidFill>
            <a:srgbClr val="FFC000"/>
          </a:solidFill>
          <a:ln>
            <a:noFill/>
          </a:ln>
          <a:effectLst/>
        </c:spPr>
      </c:pivotFmt>
      <c:pivotFmt>
        <c:idx val="26"/>
        <c:spPr>
          <a:solidFill>
            <a:srgbClr val="548235"/>
          </a:solidFill>
          <a:ln>
            <a:noFill/>
          </a:ln>
          <a:effectLst/>
        </c:spPr>
      </c:pivotFmt>
      <c:pivotFmt>
        <c:idx val="27"/>
        <c:spPr>
          <a:solidFill>
            <a:srgbClr val="000000"/>
          </a:solidFill>
          <a:ln>
            <a:noFill/>
          </a:ln>
          <a:effectLst/>
        </c:spPr>
      </c:pivotFmt>
      <c:pivotFmt>
        <c:idx val="28"/>
        <c:spPr>
          <a:solidFill>
            <a:srgbClr val="7030A0"/>
          </a:solidFill>
          <a:ln>
            <a:noFill/>
          </a:ln>
          <a:effectLst/>
        </c:spPr>
      </c:pivotFmt>
      <c:pivotFmt>
        <c:idx val="29"/>
        <c:spPr>
          <a:solidFill>
            <a:srgbClr val="C65911"/>
          </a:solidFill>
          <a:ln>
            <a:noFill/>
          </a:ln>
          <a:effectLst/>
        </c:spPr>
      </c:pivotFmt>
      <c:pivotFmt>
        <c:idx val="30"/>
        <c:spPr>
          <a:solidFill>
            <a:srgbClr val="0ACFF2"/>
          </a:solidFill>
          <a:ln>
            <a:noFill/>
          </a:ln>
          <a:effectLst/>
        </c:spPr>
      </c:pivotFmt>
      <c:pivotFmt>
        <c:idx val="31"/>
        <c:spPr>
          <a:solidFill>
            <a:srgbClr val="DB0D9D"/>
          </a:solidFill>
          <a:ln>
            <a:noFill/>
          </a:ln>
          <a:effectLst/>
        </c:spPr>
      </c:pivotFmt>
      <c:pivotFmt>
        <c:idx val="32"/>
        <c:spPr>
          <a:solidFill>
            <a:srgbClr val="A5A5A5"/>
          </a:solidFill>
          <a:ln>
            <a:noFill/>
          </a:ln>
          <a:effectLst/>
        </c:spPr>
      </c:pivotFmt>
      <c:pivotFmt>
        <c:idx val="33"/>
        <c:spPr>
          <a:solidFill>
            <a:srgbClr val="C00000"/>
          </a:solidFill>
          <a:ln>
            <a:noFill/>
          </a:ln>
          <a:effectLst/>
        </c:spPr>
      </c:pivotFmt>
      <c:pivotFmt>
        <c:idx val="34"/>
        <c:spPr>
          <a:solidFill>
            <a:srgbClr val="002060"/>
          </a:solidFill>
          <a:ln>
            <a:noFill/>
          </a:ln>
          <a:effectLst/>
        </c:spPr>
      </c:pivotFmt>
      <c:pivotFmt>
        <c:idx val="35"/>
        <c:spPr>
          <a:solidFill>
            <a:srgbClr val="0070C0"/>
          </a:solidFill>
          <a:ln>
            <a:noFill/>
          </a:ln>
          <a:effectLst/>
        </c:spPr>
      </c:pivotFmt>
      <c:pivotFmt>
        <c:idx val="36"/>
        <c:spPr>
          <a:solidFill>
            <a:srgbClr val="00B0F0"/>
          </a:solidFill>
          <a:ln>
            <a:noFill/>
          </a:ln>
          <a:effectLst/>
        </c:spPr>
      </c:pivotFmt>
      <c:pivotFmt>
        <c:idx val="37"/>
        <c:spPr>
          <a:solidFill>
            <a:srgbClr val="7030A0"/>
          </a:solidFill>
          <a:ln>
            <a:noFill/>
          </a:ln>
          <a:effectLst/>
        </c:spPr>
      </c:pivotFmt>
      <c:pivotFmt>
        <c:idx val="38"/>
        <c:spPr>
          <a:solidFill>
            <a:srgbClr val="FF0000"/>
          </a:solidFill>
          <a:ln>
            <a:noFill/>
          </a:ln>
          <a:effectLst/>
        </c:spPr>
      </c:pivotFmt>
      <c:pivotFmt>
        <c:idx val="39"/>
        <c:spPr>
          <a:solidFill>
            <a:srgbClr val="FFFF00"/>
          </a:solidFill>
          <a:ln>
            <a:noFill/>
          </a:ln>
          <a:effectLst/>
        </c:spPr>
      </c:pivotFmt>
      <c:pivotFmt>
        <c:idx val="40"/>
        <c:spPr>
          <a:solidFill>
            <a:srgbClr val="70AD47"/>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1"/>
        <c:spPr>
          <a:solidFill>
            <a:srgbClr val="4705A3"/>
          </a:solidFill>
          <a:ln>
            <a:noFill/>
          </a:ln>
          <a:effectLst/>
        </c:spPr>
      </c:pivotFmt>
      <c:pivotFmt>
        <c:idx val="42"/>
        <c:spPr>
          <a:solidFill>
            <a:srgbClr val="F5F114"/>
          </a:solidFill>
          <a:ln>
            <a:noFill/>
          </a:ln>
          <a:effectLst/>
        </c:spPr>
      </c:pivotFmt>
      <c:pivotFmt>
        <c:idx val="43"/>
        <c:spPr>
          <a:solidFill>
            <a:srgbClr val="2506D4"/>
          </a:solidFill>
          <a:ln>
            <a:noFill/>
          </a:ln>
          <a:effectLst/>
        </c:spPr>
      </c:pivotFmt>
      <c:pivotFmt>
        <c:idx val="44"/>
        <c:spPr>
          <a:solidFill>
            <a:srgbClr val="FF0000"/>
          </a:solidFill>
          <a:ln>
            <a:noFill/>
          </a:ln>
          <a:effectLst/>
        </c:spPr>
      </c:pivotFmt>
      <c:pivotFmt>
        <c:idx val="45"/>
        <c:spPr>
          <a:solidFill>
            <a:srgbClr val="FFC000"/>
          </a:solidFill>
          <a:ln>
            <a:noFill/>
          </a:ln>
          <a:effectLst/>
        </c:spPr>
      </c:pivotFmt>
      <c:pivotFmt>
        <c:idx val="46"/>
        <c:spPr>
          <a:solidFill>
            <a:srgbClr val="548235"/>
          </a:solidFill>
          <a:ln>
            <a:noFill/>
          </a:ln>
          <a:effectLst/>
        </c:spPr>
      </c:pivotFmt>
      <c:pivotFmt>
        <c:idx val="47"/>
        <c:spPr>
          <a:solidFill>
            <a:srgbClr val="000000"/>
          </a:solidFill>
          <a:ln>
            <a:noFill/>
          </a:ln>
          <a:effectLst/>
        </c:spPr>
      </c:pivotFmt>
      <c:pivotFmt>
        <c:idx val="48"/>
        <c:spPr>
          <a:solidFill>
            <a:srgbClr val="7030A0"/>
          </a:solidFill>
          <a:ln>
            <a:noFill/>
          </a:ln>
          <a:effectLst/>
        </c:spPr>
      </c:pivotFmt>
      <c:pivotFmt>
        <c:idx val="49"/>
        <c:spPr>
          <a:solidFill>
            <a:srgbClr val="C65911"/>
          </a:solidFill>
          <a:ln>
            <a:noFill/>
          </a:ln>
          <a:effectLst/>
        </c:spPr>
      </c:pivotFmt>
      <c:pivotFmt>
        <c:idx val="50"/>
        <c:spPr>
          <a:solidFill>
            <a:srgbClr val="0ACFF2"/>
          </a:solidFill>
          <a:ln>
            <a:noFill/>
          </a:ln>
          <a:effectLst/>
        </c:spPr>
      </c:pivotFmt>
      <c:pivotFmt>
        <c:idx val="51"/>
        <c:spPr>
          <a:solidFill>
            <a:srgbClr val="DB0D9D"/>
          </a:solidFill>
          <a:ln>
            <a:noFill/>
          </a:ln>
          <a:effectLst/>
        </c:spPr>
      </c:pivotFmt>
      <c:pivotFmt>
        <c:idx val="52"/>
        <c:spPr>
          <a:solidFill>
            <a:srgbClr val="A5A5A5"/>
          </a:solidFill>
          <a:ln>
            <a:noFill/>
          </a:ln>
          <a:effectLst/>
        </c:spPr>
      </c:pivotFmt>
      <c:pivotFmt>
        <c:idx val="53"/>
        <c:spPr>
          <a:solidFill>
            <a:srgbClr val="C00000"/>
          </a:solidFill>
          <a:ln>
            <a:noFill/>
          </a:ln>
          <a:effectLst/>
        </c:spPr>
      </c:pivotFmt>
      <c:pivotFmt>
        <c:idx val="54"/>
        <c:spPr>
          <a:solidFill>
            <a:srgbClr val="002060"/>
          </a:solidFill>
          <a:ln>
            <a:noFill/>
          </a:ln>
          <a:effectLst/>
        </c:spPr>
      </c:pivotFmt>
      <c:pivotFmt>
        <c:idx val="55"/>
        <c:spPr>
          <a:solidFill>
            <a:srgbClr val="0070C0"/>
          </a:solidFill>
          <a:ln>
            <a:noFill/>
          </a:ln>
          <a:effectLst/>
        </c:spPr>
      </c:pivotFmt>
      <c:pivotFmt>
        <c:idx val="56"/>
        <c:spPr>
          <a:solidFill>
            <a:srgbClr val="00B0F0"/>
          </a:solidFill>
          <a:ln>
            <a:noFill/>
          </a:ln>
          <a:effectLst/>
        </c:spPr>
      </c:pivotFmt>
      <c:pivotFmt>
        <c:idx val="57"/>
        <c:spPr>
          <a:solidFill>
            <a:srgbClr val="7030A0"/>
          </a:solidFill>
          <a:ln>
            <a:noFill/>
          </a:ln>
          <a:effectLst/>
        </c:spPr>
      </c:pivotFmt>
      <c:pivotFmt>
        <c:idx val="58"/>
        <c:spPr>
          <a:solidFill>
            <a:srgbClr val="FF0000"/>
          </a:solidFill>
          <a:ln>
            <a:noFill/>
          </a:ln>
          <a:effectLst/>
        </c:spPr>
      </c:pivotFmt>
      <c:pivotFmt>
        <c:idx val="59"/>
        <c:spPr>
          <a:solidFill>
            <a:srgbClr val="FFFF00"/>
          </a:solidFill>
          <a:ln>
            <a:noFill/>
          </a:ln>
          <a:effectLst/>
        </c:spPr>
      </c:pivotFmt>
    </c:pivotFmts>
    <c:plotArea>
      <c:layout/>
      <c:barChart>
        <c:barDir val="bar"/>
        <c:grouping val="clustered"/>
        <c:varyColors val="0"/>
        <c:ser>
          <c:idx val="0"/>
          <c:order val="0"/>
          <c:tx>
            <c:strRef>
              <c:f>Sheet1!$B$5</c:f>
              <c:strCache>
                <c:ptCount val="1"/>
                <c:pt idx="0">
                  <c:v>Total</c:v>
                </c:pt>
              </c:strCache>
            </c:strRef>
          </c:tx>
          <c:spPr>
            <a:solidFill>
              <a:srgbClr val="70AD47"/>
            </a:solidFill>
            <a:ln>
              <a:noFill/>
            </a:ln>
            <a:effectLst/>
          </c:spPr>
          <c:invertIfNegative val="0"/>
          <c:dPt>
            <c:idx val="0"/>
            <c:invertIfNegative val="0"/>
            <c:bubble3D val="0"/>
            <c:spPr>
              <a:solidFill>
                <a:srgbClr val="4705A3"/>
              </a:solidFill>
              <a:ln>
                <a:noFill/>
              </a:ln>
              <a:effectLst/>
            </c:spPr>
            <c:extLst>
              <c:ext xmlns:c16="http://schemas.microsoft.com/office/drawing/2014/chart" uri="{C3380CC4-5D6E-409C-BE32-E72D297353CC}">
                <c16:uniqueId val="{00000001-4498-4D67-A285-C10655F7C295}"/>
              </c:ext>
            </c:extLst>
          </c:dPt>
          <c:dPt>
            <c:idx val="1"/>
            <c:invertIfNegative val="0"/>
            <c:bubble3D val="0"/>
            <c:spPr>
              <a:solidFill>
                <a:srgbClr val="F5F114"/>
              </a:solidFill>
              <a:ln>
                <a:noFill/>
              </a:ln>
              <a:effectLst/>
            </c:spPr>
            <c:extLst>
              <c:ext xmlns:c16="http://schemas.microsoft.com/office/drawing/2014/chart" uri="{C3380CC4-5D6E-409C-BE32-E72D297353CC}">
                <c16:uniqueId val="{00000003-4498-4D67-A285-C10655F7C295}"/>
              </c:ext>
            </c:extLst>
          </c:dPt>
          <c:dPt>
            <c:idx val="2"/>
            <c:invertIfNegative val="0"/>
            <c:bubble3D val="0"/>
            <c:spPr>
              <a:solidFill>
                <a:srgbClr val="2506D4"/>
              </a:solidFill>
              <a:ln>
                <a:noFill/>
              </a:ln>
              <a:effectLst/>
            </c:spPr>
            <c:extLst>
              <c:ext xmlns:c16="http://schemas.microsoft.com/office/drawing/2014/chart" uri="{C3380CC4-5D6E-409C-BE32-E72D297353CC}">
                <c16:uniqueId val="{00000005-4498-4D67-A285-C10655F7C295}"/>
              </c:ext>
            </c:extLst>
          </c:dPt>
          <c:dPt>
            <c:idx val="3"/>
            <c:invertIfNegative val="0"/>
            <c:bubble3D val="0"/>
            <c:spPr>
              <a:solidFill>
                <a:srgbClr val="FF0000"/>
              </a:solidFill>
              <a:ln>
                <a:noFill/>
              </a:ln>
              <a:effectLst/>
            </c:spPr>
            <c:extLst>
              <c:ext xmlns:c16="http://schemas.microsoft.com/office/drawing/2014/chart" uri="{C3380CC4-5D6E-409C-BE32-E72D297353CC}">
                <c16:uniqueId val="{00000007-4498-4D67-A285-C10655F7C295}"/>
              </c:ext>
            </c:extLst>
          </c:dPt>
          <c:dPt>
            <c:idx val="4"/>
            <c:invertIfNegative val="0"/>
            <c:bubble3D val="0"/>
            <c:spPr>
              <a:solidFill>
                <a:srgbClr val="FFC000"/>
              </a:solidFill>
              <a:ln>
                <a:noFill/>
              </a:ln>
              <a:effectLst/>
            </c:spPr>
            <c:extLst>
              <c:ext xmlns:c16="http://schemas.microsoft.com/office/drawing/2014/chart" uri="{C3380CC4-5D6E-409C-BE32-E72D297353CC}">
                <c16:uniqueId val="{00000009-4498-4D67-A285-C10655F7C295}"/>
              </c:ext>
            </c:extLst>
          </c:dPt>
          <c:dPt>
            <c:idx val="5"/>
            <c:invertIfNegative val="0"/>
            <c:bubble3D val="0"/>
            <c:spPr>
              <a:solidFill>
                <a:srgbClr val="548235"/>
              </a:solidFill>
              <a:ln>
                <a:noFill/>
              </a:ln>
              <a:effectLst/>
            </c:spPr>
            <c:extLst>
              <c:ext xmlns:c16="http://schemas.microsoft.com/office/drawing/2014/chart" uri="{C3380CC4-5D6E-409C-BE32-E72D297353CC}">
                <c16:uniqueId val="{0000000B-4498-4D67-A285-C10655F7C295}"/>
              </c:ext>
            </c:extLst>
          </c:dPt>
          <c:dPt>
            <c:idx val="6"/>
            <c:invertIfNegative val="0"/>
            <c:bubble3D val="0"/>
            <c:spPr>
              <a:solidFill>
                <a:srgbClr val="000000"/>
              </a:solidFill>
              <a:ln>
                <a:noFill/>
              </a:ln>
              <a:effectLst/>
            </c:spPr>
            <c:extLst>
              <c:ext xmlns:c16="http://schemas.microsoft.com/office/drawing/2014/chart" uri="{C3380CC4-5D6E-409C-BE32-E72D297353CC}">
                <c16:uniqueId val="{0000000D-4498-4D67-A285-C10655F7C295}"/>
              </c:ext>
            </c:extLst>
          </c:dPt>
          <c:dPt>
            <c:idx val="7"/>
            <c:invertIfNegative val="0"/>
            <c:bubble3D val="0"/>
            <c:spPr>
              <a:solidFill>
                <a:srgbClr val="7030A0"/>
              </a:solidFill>
              <a:ln>
                <a:noFill/>
              </a:ln>
              <a:effectLst/>
            </c:spPr>
            <c:extLst>
              <c:ext xmlns:c16="http://schemas.microsoft.com/office/drawing/2014/chart" uri="{C3380CC4-5D6E-409C-BE32-E72D297353CC}">
                <c16:uniqueId val="{0000000F-4498-4D67-A285-C10655F7C295}"/>
              </c:ext>
            </c:extLst>
          </c:dPt>
          <c:dPt>
            <c:idx val="8"/>
            <c:invertIfNegative val="0"/>
            <c:bubble3D val="0"/>
            <c:spPr>
              <a:solidFill>
                <a:srgbClr val="C65911"/>
              </a:solidFill>
              <a:ln>
                <a:noFill/>
              </a:ln>
              <a:effectLst/>
            </c:spPr>
            <c:extLst>
              <c:ext xmlns:c16="http://schemas.microsoft.com/office/drawing/2014/chart" uri="{C3380CC4-5D6E-409C-BE32-E72D297353CC}">
                <c16:uniqueId val="{00000011-4498-4D67-A285-C10655F7C295}"/>
              </c:ext>
            </c:extLst>
          </c:dPt>
          <c:dPt>
            <c:idx val="10"/>
            <c:invertIfNegative val="0"/>
            <c:bubble3D val="0"/>
            <c:spPr>
              <a:solidFill>
                <a:srgbClr val="0ACFF2"/>
              </a:solidFill>
              <a:ln>
                <a:noFill/>
              </a:ln>
              <a:effectLst/>
            </c:spPr>
            <c:extLst>
              <c:ext xmlns:c16="http://schemas.microsoft.com/office/drawing/2014/chart" uri="{C3380CC4-5D6E-409C-BE32-E72D297353CC}">
                <c16:uniqueId val="{00000013-4498-4D67-A285-C10655F7C295}"/>
              </c:ext>
            </c:extLst>
          </c:dPt>
          <c:dPt>
            <c:idx val="11"/>
            <c:invertIfNegative val="0"/>
            <c:bubble3D val="0"/>
            <c:spPr>
              <a:solidFill>
                <a:srgbClr val="DB0D9D"/>
              </a:solidFill>
              <a:ln>
                <a:noFill/>
              </a:ln>
              <a:effectLst/>
            </c:spPr>
            <c:extLst>
              <c:ext xmlns:c16="http://schemas.microsoft.com/office/drawing/2014/chart" uri="{C3380CC4-5D6E-409C-BE32-E72D297353CC}">
                <c16:uniqueId val="{00000015-4498-4D67-A285-C10655F7C295}"/>
              </c:ext>
            </c:extLst>
          </c:dPt>
          <c:dPt>
            <c:idx val="12"/>
            <c:invertIfNegative val="0"/>
            <c:bubble3D val="0"/>
            <c:spPr>
              <a:solidFill>
                <a:srgbClr val="A5A5A5"/>
              </a:solidFill>
              <a:ln>
                <a:noFill/>
              </a:ln>
              <a:effectLst/>
            </c:spPr>
            <c:extLst>
              <c:ext xmlns:c16="http://schemas.microsoft.com/office/drawing/2014/chart" uri="{C3380CC4-5D6E-409C-BE32-E72D297353CC}">
                <c16:uniqueId val="{00000017-4498-4D67-A285-C10655F7C295}"/>
              </c:ext>
            </c:extLst>
          </c:dPt>
          <c:dPt>
            <c:idx val="13"/>
            <c:invertIfNegative val="0"/>
            <c:bubble3D val="0"/>
            <c:spPr>
              <a:solidFill>
                <a:srgbClr val="C00000"/>
              </a:solidFill>
              <a:ln>
                <a:noFill/>
              </a:ln>
              <a:effectLst/>
            </c:spPr>
            <c:extLst>
              <c:ext xmlns:c16="http://schemas.microsoft.com/office/drawing/2014/chart" uri="{C3380CC4-5D6E-409C-BE32-E72D297353CC}">
                <c16:uniqueId val="{00000019-4498-4D67-A285-C10655F7C295}"/>
              </c:ext>
            </c:extLst>
          </c:dPt>
          <c:dPt>
            <c:idx val="14"/>
            <c:invertIfNegative val="0"/>
            <c:bubble3D val="0"/>
            <c:spPr>
              <a:solidFill>
                <a:srgbClr val="002060"/>
              </a:solidFill>
              <a:ln>
                <a:noFill/>
              </a:ln>
              <a:effectLst/>
            </c:spPr>
            <c:extLst>
              <c:ext xmlns:c16="http://schemas.microsoft.com/office/drawing/2014/chart" uri="{C3380CC4-5D6E-409C-BE32-E72D297353CC}">
                <c16:uniqueId val="{0000001B-4498-4D67-A285-C10655F7C295}"/>
              </c:ext>
            </c:extLst>
          </c:dPt>
          <c:dPt>
            <c:idx val="15"/>
            <c:invertIfNegative val="0"/>
            <c:bubble3D val="0"/>
            <c:spPr>
              <a:solidFill>
                <a:srgbClr val="0070C0"/>
              </a:solidFill>
              <a:ln>
                <a:noFill/>
              </a:ln>
              <a:effectLst/>
            </c:spPr>
            <c:extLst>
              <c:ext xmlns:c16="http://schemas.microsoft.com/office/drawing/2014/chart" uri="{C3380CC4-5D6E-409C-BE32-E72D297353CC}">
                <c16:uniqueId val="{0000001D-4498-4D67-A285-C10655F7C295}"/>
              </c:ext>
            </c:extLst>
          </c:dPt>
          <c:dPt>
            <c:idx val="16"/>
            <c:invertIfNegative val="0"/>
            <c:bubble3D val="0"/>
            <c:spPr>
              <a:solidFill>
                <a:srgbClr val="00B0F0"/>
              </a:solidFill>
              <a:ln>
                <a:noFill/>
              </a:ln>
              <a:effectLst/>
            </c:spPr>
            <c:extLst>
              <c:ext xmlns:c16="http://schemas.microsoft.com/office/drawing/2014/chart" uri="{C3380CC4-5D6E-409C-BE32-E72D297353CC}">
                <c16:uniqueId val="{0000001F-4498-4D67-A285-C10655F7C295}"/>
              </c:ext>
            </c:extLst>
          </c:dPt>
          <c:dPt>
            <c:idx val="17"/>
            <c:invertIfNegative val="0"/>
            <c:bubble3D val="0"/>
            <c:spPr>
              <a:solidFill>
                <a:srgbClr val="7030A0"/>
              </a:solidFill>
              <a:ln>
                <a:noFill/>
              </a:ln>
              <a:effectLst/>
            </c:spPr>
            <c:extLst>
              <c:ext xmlns:c16="http://schemas.microsoft.com/office/drawing/2014/chart" uri="{C3380CC4-5D6E-409C-BE32-E72D297353CC}">
                <c16:uniqueId val="{00000021-4498-4D67-A285-C10655F7C295}"/>
              </c:ext>
            </c:extLst>
          </c:dPt>
          <c:dPt>
            <c:idx val="18"/>
            <c:invertIfNegative val="0"/>
            <c:bubble3D val="0"/>
            <c:spPr>
              <a:solidFill>
                <a:srgbClr val="FF0000"/>
              </a:solidFill>
              <a:ln>
                <a:noFill/>
              </a:ln>
              <a:effectLst/>
            </c:spPr>
            <c:extLst>
              <c:ext xmlns:c16="http://schemas.microsoft.com/office/drawing/2014/chart" uri="{C3380CC4-5D6E-409C-BE32-E72D297353CC}">
                <c16:uniqueId val="{00000023-4498-4D67-A285-C10655F7C295}"/>
              </c:ext>
            </c:extLst>
          </c:dPt>
          <c:dPt>
            <c:idx val="20"/>
            <c:invertIfNegative val="0"/>
            <c:bubble3D val="0"/>
            <c:spPr>
              <a:solidFill>
                <a:srgbClr val="FFFF00"/>
              </a:solidFill>
              <a:ln>
                <a:noFill/>
              </a:ln>
              <a:effectLst/>
            </c:spPr>
            <c:extLst>
              <c:ext xmlns:c16="http://schemas.microsoft.com/office/drawing/2014/chart" uri="{C3380CC4-5D6E-409C-BE32-E72D297353CC}">
                <c16:uniqueId val="{00000025-4498-4D67-A285-C10655F7C29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Sheet1!$A$6:$A$27</c:f>
              <c:strCache>
                <c:ptCount val="21"/>
                <c:pt idx="0">
                  <c:v>3 Series</c:v>
                </c:pt>
                <c:pt idx="1">
                  <c:v>5 Series</c:v>
                </c:pt>
                <c:pt idx="2">
                  <c:v>Accord</c:v>
                </c:pt>
                <c:pt idx="3">
                  <c:v>Altima</c:v>
                </c:pt>
                <c:pt idx="4">
                  <c:v>Camry</c:v>
                </c:pt>
                <c:pt idx="5">
                  <c:v>C-Class</c:v>
                </c:pt>
                <c:pt idx="6">
                  <c:v>E-Class</c:v>
                </c:pt>
                <c:pt idx="7">
                  <c:v>Edge</c:v>
                </c:pt>
                <c:pt idx="8">
                  <c:v>Escape</c:v>
                </c:pt>
                <c:pt idx="9">
                  <c:v>Explorer</c:v>
                </c:pt>
                <c:pt idx="10">
                  <c:v>F-150</c:v>
                </c:pt>
                <c:pt idx="11">
                  <c:v>Focus</c:v>
                </c:pt>
                <c:pt idx="12">
                  <c:v>Fusion</c:v>
                </c:pt>
                <c:pt idx="13">
                  <c:v>G Sedan</c:v>
                </c:pt>
                <c:pt idx="14">
                  <c:v>Grand Caravan</c:v>
                </c:pt>
                <c:pt idx="15">
                  <c:v>Maxima</c:v>
                </c:pt>
                <c:pt idx="16">
                  <c:v>None</c:v>
                </c:pt>
                <c:pt idx="17">
                  <c:v>Rogue</c:v>
                </c:pt>
                <c:pt idx="18">
                  <c:v>Silverado 1500</c:v>
                </c:pt>
                <c:pt idx="19">
                  <c:v>Town and Country</c:v>
                </c:pt>
                <c:pt idx="20">
                  <c:v>Wrangler</c:v>
                </c:pt>
              </c:strCache>
            </c:strRef>
          </c:cat>
          <c:val>
            <c:numRef>
              <c:f>Sheet1!$B$6:$B$27</c:f>
              <c:numCache>
                <c:formatCode>0.00%</c:formatCode>
                <c:ptCount val="21"/>
                <c:pt idx="0">
                  <c:v>5.3686324871967166E-2</c:v>
                </c:pt>
                <c:pt idx="1">
                  <c:v>3.4472823629317473E-2</c:v>
                </c:pt>
                <c:pt idx="2">
                  <c:v>3.4315281812284437E-2</c:v>
                </c:pt>
                <c:pt idx="3">
                  <c:v>8.5941898073837883E-2</c:v>
                </c:pt>
                <c:pt idx="4">
                  <c:v>5.428982084996236E-2</c:v>
                </c:pt>
                <c:pt idx="5">
                  <c:v>3.7064076655459827E-2</c:v>
                </c:pt>
                <c:pt idx="6">
                  <c:v>3.2491099873799868E-2</c:v>
                </c:pt>
                <c:pt idx="7">
                  <c:v>4.3176047487507578E-2</c:v>
                </c:pt>
                <c:pt idx="8">
                  <c:v>6.4578006145925779E-2</c:v>
                </c:pt>
                <c:pt idx="9">
                  <c:v>5.4622271672690154E-2</c:v>
                </c:pt>
                <c:pt idx="10">
                  <c:v>0.10607936133138668</c:v>
                </c:pt>
                <c:pt idx="11">
                  <c:v>3.7646603153474414E-2</c:v>
                </c:pt>
                <c:pt idx="12">
                  <c:v>6.2253195303974357E-2</c:v>
                </c:pt>
                <c:pt idx="13">
                  <c:v>5.7470669013886137E-2</c:v>
                </c:pt>
                <c:pt idx="14">
                  <c:v>3.5144014482778534E-2</c:v>
                </c:pt>
                <c:pt idx="15">
                  <c:v>3.3569332507365227E-2</c:v>
                </c:pt>
                <c:pt idx="16">
                  <c:v>3.5894306169144859E-2</c:v>
                </c:pt>
                <c:pt idx="17">
                  <c:v>3.0064733864452679E-2</c:v>
                </c:pt>
                <c:pt idx="18">
                  <c:v>4.1780598591743497E-2</c:v>
                </c:pt>
                <c:pt idx="19">
                  <c:v>3.3813725459030573E-2</c:v>
                </c:pt>
                <c:pt idx="20">
                  <c:v>3.1645809050010541E-2</c:v>
                </c:pt>
              </c:numCache>
            </c:numRef>
          </c:val>
          <c:extLst>
            <c:ext xmlns:c16="http://schemas.microsoft.com/office/drawing/2014/chart" uri="{C3380CC4-5D6E-409C-BE32-E72D297353CC}">
              <c16:uniqueId val="{00000026-4498-4D67-A285-C10655F7C295}"/>
            </c:ext>
          </c:extLst>
        </c:ser>
        <c:dLbls>
          <c:showLegendKey val="0"/>
          <c:showVal val="0"/>
          <c:showCatName val="0"/>
          <c:showSerName val="0"/>
          <c:showPercent val="0"/>
          <c:showBubbleSize val="0"/>
        </c:dLbls>
        <c:gapWidth val="69"/>
        <c:axId val="1036578824"/>
        <c:axId val="1036581384"/>
      </c:barChart>
      <c:catAx>
        <c:axId val="1036578824"/>
        <c:scaling>
          <c:orientation val="minMax"/>
        </c:scaling>
        <c:delete val="0"/>
        <c:axPos val="l"/>
        <c:numFmt formatCode="General" sourceLinked="1"/>
        <c:majorTickMark val="none"/>
        <c:minorTickMark val="none"/>
        <c:tickLblPos val="nextTo"/>
        <c:spPr>
          <a:noFill/>
          <a:ln w="9525" cap="flat" cmpd="sng" algn="ctr">
            <a:solidFill>
              <a:srgbClr val="000000"/>
            </a:solidFill>
            <a:prstDash val="solid"/>
            <a:round/>
          </a:ln>
          <a:effectLst/>
        </c:spPr>
        <c:txPr>
          <a:bodyPr rot="-60000000" spcFirstLastPara="1" vertOverflow="ellipsis" vert="horz" wrap="square" anchor="ctr" anchorCtr="1"/>
          <a:lstStyle/>
          <a:p>
            <a:pPr>
              <a:defRPr sz="900" b="0" i="0" u="none" strike="noStrike" kern="1200" baseline="0">
                <a:solidFill>
                  <a:srgbClr val="000000"/>
                </a:solidFill>
                <a:latin typeface="Times New Roman"/>
                <a:ea typeface="Times New Roman"/>
                <a:cs typeface="Times New Roman"/>
              </a:defRPr>
            </a:pPr>
            <a:endParaRPr lang="en-US"/>
          </a:p>
        </c:txPr>
        <c:crossAx val="1036581384"/>
        <c:crosses val="autoZero"/>
        <c:auto val="1"/>
        <c:lblAlgn val="ctr"/>
        <c:lblOffset val="100"/>
        <c:noMultiLvlLbl val="0"/>
      </c:catAx>
      <c:valAx>
        <c:axId val="1036581384"/>
        <c:scaling>
          <c:orientation val="minMax"/>
        </c:scaling>
        <c:delete val="1"/>
        <c:axPos val="b"/>
        <c:numFmt formatCode="0.00%" sourceLinked="1"/>
        <c:majorTickMark val="none"/>
        <c:minorTickMark val="none"/>
        <c:tickLblPos val="nextTo"/>
        <c:crossAx val="10365788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000000"/>
                </a:solidFill>
                <a:latin typeface="Times New Roman"/>
                <a:ea typeface="Times New Roman"/>
                <a:cs typeface="Times New Roman"/>
              </a:defRPr>
            </a:pPr>
            <a:r>
              <a:rPr lang="en-US"/>
              <a:t>Average Selling Price vs. Average Mileage Over Time (1995-2015)</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000000"/>
              </a:solidFill>
              <a:latin typeface="Times New Roman"/>
              <a:ea typeface="Times New Roman"/>
              <a:cs typeface="Times New Roman"/>
            </a:defRPr>
          </a:pPr>
          <a:endParaRPr lang="en-US"/>
        </a:p>
      </c:txPr>
    </c:title>
    <c:autoTitleDeleted val="0"/>
    <c:pivotFmts>
      <c:pivotFmt>
        <c:idx val="0"/>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v>Average Selling Price</c:v>
          </c:tx>
          <c:spPr>
            <a:ln w="28575" cap="rnd">
              <a:solidFill>
                <a:srgbClr val="637CEF"/>
              </a:solidFill>
              <a:round/>
            </a:ln>
            <a:effectLst/>
          </c:spPr>
          <c:marker>
            <c:symbol val="x"/>
            <c:size val="5"/>
            <c:spPr>
              <a:noFill/>
              <a:ln w="9525">
                <a:solidFill>
                  <a:srgbClr val="637CEF"/>
                </a:solidFill>
              </a:ln>
              <a:effectLst/>
            </c:spPr>
          </c:marker>
          <c:cat>
            <c:strLit>
              <c:ptCount val="21"/>
              <c:pt idx="0">
                <c:v>1995</c:v>
              </c:pt>
              <c:pt idx="1">
                <c:v>1996</c:v>
              </c:pt>
              <c:pt idx="2">
                <c:v>1997</c:v>
              </c:pt>
              <c:pt idx="3">
                <c:v>1998</c:v>
              </c:pt>
              <c:pt idx="4">
                <c:v>1999</c:v>
              </c:pt>
              <c:pt idx="5">
                <c:v>2000</c:v>
              </c:pt>
              <c:pt idx="6">
                <c:v>2001</c:v>
              </c:pt>
              <c:pt idx="7">
                <c:v>2002</c:v>
              </c:pt>
              <c:pt idx="8">
                <c:v>2003</c:v>
              </c:pt>
              <c:pt idx="9">
                <c:v>2004</c:v>
              </c:pt>
              <c:pt idx="10">
                <c:v>2005</c:v>
              </c:pt>
              <c:pt idx="11">
                <c:v>2006</c:v>
              </c:pt>
              <c:pt idx="12">
                <c:v>2007</c:v>
              </c:pt>
              <c:pt idx="13">
                <c:v>2008</c:v>
              </c:pt>
              <c:pt idx="14">
                <c:v>2009</c:v>
              </c:pt>
              <c:pt idx="15">
                <c:v>2010</c:v>
              </c:pt>
              <c:pt idx="16">
                <c:v>2011</c:v>
              </c:pt>
              <c:pt idx="17">
                <c:v>2012</c:v>
              </c:pt>
              <c:pt idx="18">
                <c:v>2013</c:v>
              </c:pt>
              <c:pt idx="19">
                <c:v>2014</c:v>
              </c:pt>
              <c:pt idx="20">
                <c:v>2015</c:v>
              </c:pt>
            </c:strLit>
          </c:cat>
          <c:val>
            <c:numLit>
              <c:formatCode>General</c:formatCode>
              <c:ptCount val="21"/>
              <c:pt idx="0">
                <c:v>913.29</c:v>
              </c:pt>
              <c:pt idx="1">
                <c:v>985.78</c:v>
              </c:pt>
              <c:pt idx="2">
                <c:v>1157.45</c:v>
              </c:pt>
              <c:pt idx="3">
                <c:v>1261.72</c:v>
              </c:pt>
              <c:pt idx="4">
                <c:v>1533.7</c:v>
              </c:pt>
              <c:pt idx="5">
                <c:v>1827.83</c:v>
              </c:pt>
              <c:pt idx="6">
                <c:v>2131.0100000000002</c:v>
              </c:pt>
              <c:pt idx="7">
                <c:v>2611.71</c:v>
              </c:pt>
              <c:pt idx="8">
                <c:v>3447.27</c:v>
              </c:pt>
              <c:pt idx="9">
                <c:v>4321.47</c:v>
              </c:pt>
              <c:pt idx="10">
                <c:v>4893.99</c:v>
              </c:pt>
              <c:pt idx="11">
                <c:v>6190.52</c:v>
              </c:pt>
              <c:pt idx="12">
                <c:v>8022.17</c:v>
              </c:pt>
              <c:pt idx="13">
                <c:v>9507.99</c:v>
              </c:pt>
              <c:pt idx="14">
                <c:v>10462.69</c:v>
              </c:pt>
              <c:pt idx="15">
                <c:v>12412.2</c:v>
              </c:pt>
              <c:pt idx="16">
                <c:v>15852.1</c:v>
              </c:pt>
              <c:pt idx="17">
                <c:v>16655.41</c:v>
              </c:pt>
              <c:pt idx="18">
                <c:v>17476.509999999998</c:v>
              </c:pt>
              <c:pt idx="19">
                <c:v>20094.64</c:v>
              </c:pt>
              <c:pt idx="20">
                <c:v>25941.919999999998</c:v>
              </c:pt>
            </c:numLit>
          </c:val>
          <c:smooth val="0"/>
          <c:extLst>
            <c:ext xmlns:c16="http://schemas.microsoft.com/office/drawing/2014/chart" uri="{C3380CC4-5D6E-409C-BE32-E72D297353CC}">
              <c16:uniqueId val="{00000000-7107-484F-944E-DFC357741E95}"/>
            </c:ext>
          </c:extLst>
        </c:ser>
        <c:ser>
          <c:idx val="1"/>
          <c:order val="1"/>
          <c:tx>
            <c:v>Average Mileage</c:v>
          </c:tx>
          <c:spPr>
            <a:ln w="28575" cap="rnd">
              <a:solidFill>
                <a:srgbClr val="E3008C"/>
              </a:solidFill>
              <a:round/>
            </a:ln>
            <a:effectLst/>
          </c:spPr>
          <c:marker>
            <c:symbol val="star"/>
            <c:size val="5"/>
            <c:spPr>
              <a:noFill/>
              <a:ln w="9525">
                <a:solidFill>
                  <a:srgbClr val="E3008C"/>
                </a:solidFill>
              </a:ln>
              <a:effectLst/>
            </c:spPr>
          </c:marker>
          <c:cat>
            <c:strLit>
              <c:ptCount val="21"/>
              <c:pt idx="0">
                <c:v>1995</c:v>
              </c:pt>
              <c:pt idx="1">
                <c:v>1996</c:v>
              </c:pt>
              <c:pt idx="2">
                <c:v>1997</c:v>
              </c:pt>
              <c:pt idx="3">
                <c:v>1998</c:v>
              </c:pt>
              <c:pt idx="4">
                <c:v>1999</c:v>
              </c:pt>
              <c:pt idx="5">
                <c:v>2000</c:v>
              </c:pt>
              <c:pt idx="6">
                <c:v>2001</c:v>
              </c:pt>
              <c:pt idx="7">
                <c:v>2002</c:v>
              </c:pt>
              <c:pt idx="8">
                <c:v>2003</c:v>
              </c:pt>
              <c:pt idx="9">
                <c:v>2004</c:v>
              </c:pt>
              <c:pt idx="10">
                <c:v>2005</c:v>
              </c:pt>
              <c:pt idx="11">
                <c:v>2006</c:v>
              </c:pt>
              <c:pt idx="12">
                <c:v>2007</c:v>
              </c:pt>
              <c:pt idx="13">
                <c:v>2008</c:v>
              </c:pt>
              <c:pt idx="14">
                <c:v>2009</c:v>
              </c:pt>
              <c:pt idx="15">
                <c:v>2010</c:v>
              </c:pt>
              <c:pt idx="16">
                <c:v>2011</c:v>
              </c:pt>
              <c:pt idx="17">
                <c:v>2012</c:v>
              </c:pt>
              <c:pt idx="18">
                <c:v>2013</c:v>
              </c:pt>
              <c:pt idx="19">
                <c:v>2014</c:v>
              </c:pt>
              <c:pt idx="20">
                <c:v>2015</c:v>
              </c:pt>
            </c:strLit>
          </c:cat>
          <c:val>
            <c:numLit>
              <c:formatCode>General</c:formatCode>
              <c:ptCount val="21"/>
              <c:pt idx="0">
                <c:v>76684.2</c:v>
              </c:pt>
              <c:pt idx="1">
                <c:v>88992.71</c:v>
              </c:pt>
              <c:pt idx="2">
                <c:v>77917.039999999994</c:v>
              </c:pt>
              <c:pt idx="3">
                <c:v>77012.429999999993</c:v>
              </c:pt>
              <c:pt idx="4">
                <c:v>71704.83</c:v>
              </c:pt>
              <c:pt idx="5">
                <c:v>59224.78</c:v>
              </c:pt>
              <c:pt idx="6">
                <c:v>58493.88</c:v>
              </c:pt>
              <c:pt idx="7">
                <c:v>59274.77</c:v>
              </c:pt>
              <c:pt idx="8">
                <c:v>64458.19</c:v>
              </c:pt>
              <c:pt idx="9">
                <c:v>65302.239999999998</c:v>
              </c:pt>
              <c:pt idx="10">
                <c:v>59573.77</c:v>
              </c:pt>
              <c:pt idx="11">
                <c:v>54197.46</c:v>
              </c:pt>
              <c:pt idx="12">
                <c:v>57195.26</c:v>
              </c:pt>
              <c:pt idx="13">
                <c:v>57877.98</c:v>
              </c:pt>
              <c:pt idx="14">
                <c:v>51769.49</c:v>
              </c:pt>
              <c:pt idx="15">
                <c:v>52545.81</c:v>
              </c:pt>
              <c:pt idx="16">
                <c:v>63670</c:v>
              </c:pt>
              <c:pt idx="17">
                <c:v>60916.99</c:v>
              </c:pt>
              <c:pt idx="18">
                <c:v>71867.59</c:v>
              </c:pt>
              <c:pt idx="19">
                <c:v>66174.61</c:v>
              </c:pt>
              <c:pt idx="20">
                <c:v>72830.81</c:v>
              </c:pt>
            </c:numLit>
          </c:val>
          <c:smooth val="0"/>
          <c:extLst>
            <c:ext xmlns:c16="http://schemas.microsoft.com/office/drawing/2014/chart" uri="{C3380CC4-5D6E-409C-BE32-E72D297353CC}">
              <c16:uniqueId val="{00000001-7107-484F-944E-DFC357741E95}"/>
            </c:ext>
          </c:extLst>
        </c:ser>
        <c:dLbls>
          <c:showLegendKey val="0"/>
          <c:showVal val="0"/>
          <c:showCatName val="0"/>
          <c:showSerName val="0"/>
          <c:showPercent val="0"/>
          <c:showBubbleSize val="0"/>
        </c:dLbls>
        <c:marker val="1"/>
        <c:smooth val="0"/>
        <c:axId val="782252552"/>
        <c:axId val="933632520"/>
      </c:lineChart>
      <c:catAx>
        <c:axId val="782252552"/>
        <c:scaling>
          <c:orientation val="minMax"/>
        </c:scaling>
        <c:delete val="0"/>
        <c:axPos val="b"/>
        <c:numFmt formatCode="General" sourceLinked="0"/>
        <c:majorTickMark val="out"/>
        <c:minorTickMark val="none"/>
        <c:tickLblPos val="nextTo"/>
        <c:spPr>
          <a:noFill/>
          <a:ln w="9525" cap="flat" cmpd="sng" algn="ctr">
            <a:solidFill>
              <a:srgbClr val="000000"/>
            </a:solidFill>
            <a:prstDash val="solid"/>
            <a:round/>
          </a:ln>
          <a:effectLst/>
        </c:spPr>
        <c:txPr>
          <a:bodyPr rot="-60000000" spcFirstLastPara="1" vertOverflow="ellipsis" vert="horz" wrap="square" anchor="ctr" anchorCtr="1"/>
          <a:lstStyle/>
          <a:p>
            <a:pPr>
              <a:defRPr sz="900" b="0" i="0" u="none" strike="noStrike" kern="1200" baseline="0">
                <a:solidFill>
                  <a:srgbClr val="000000"/>
                </a:solidFill>
                <a:latin typeface="Times New Roman"/>
                <a:ea typeface="Times New Roman"/>
                <a:cs typeface="Times New Roman"/>
              </a:defRPr>
            </a:pPr>
            <a:endParaRPr lang="en-US"/>
          </a:p>
        </c:txPr>
        <c:crossAx val="933632520"/>
        <c:crosses val="autoZero"/>
        <c:auto val="1"/>
        <c:lblAlgn val="ctr"/>
        <c:lblOffset val="100"/>
        <c:noMultiLvlLbl val="0"/>
      </c:catAx>
      <c:valAx>
        <c:axId val="933632520"/>
        <c:scaling>
          <c:orientation val="minMax"/>
        </c:scaling>
        <c:delete val="0"/>
        <c:axPos val="l"/>
        <c:numFmt formatCode="General" sourceLinked="0"/>
        <c:majorTickMark val="out"/>
        <c:minorTickMark val="none"/>
        <c:tickLblPos val="nextTo"/>
        <c:spPr>
          <a:noFill/>
          <a:ln>
            <a:solidFill>
              <a:srgbClr val="000000"/>
            </a:solidFill>
            <a:prstDash val="solid"/>
          </a:ln>
          <a:effectLst/>
        </c:spPr>
        <c:txPr>
          <a:bodyPr rot="-60000000" spcFirstLastPara="1" vertOverflow="ellipsis" vert="horz" wrap="square" anchor="ctr" anchorCtr="1"/>
          <a:lstStyle/>
          <a:p>
            <a:pPr>
              <a:defRPr sz="900" b="0" i="0" u="none" strike="noStrike" kern="1200" baseline="0">
                <a:solidFill>
                  <a:srgbClr val="000000"/>
                </a:solidFill>
                <a:latin typeface="Times New Roman"/>
                <a:ea typeface="Times New Roman"/>
                <a:cs typeface="Times New Roman"/>
              </a:defRPr>
            </a:pPr>
            <a:endParaRPr lang="en-US"/>
          </a:p>
        </c:txPr>
        <c:crossAx val="782252552"/>
        <c:crosses val="autoZero"/>
        <c:crossBetween val="between"/>
      </c:valAx>
      <c:spPr>
        <a:noFill/>
        <a:ln>
          <a:noFill/>
        </a:ln>
        <a:effectLst/>
      </c:spPr>
    </c:plotArea>
    <c:legend>
      <c:legendPos val="b"/>
      <c:overlay val="0"/>
      <c:spPr>
        <a:noFill/>
        <a:ln>
          <a:solidFill>
            <a:srgbClr val="000000"/>
          </a:solidFill>
          <a:prstDash val="solid"/>
        </a:ln>
        <a:effectLst/>
      </c:spPr>
      <c:txPr>
        <a:bodyPr rot="0" spcFirstLastPara="1" vertOverflow="ellipsis" vert="horz" wrap="square" anchor="ctr" anchorCtr="1"/>
        <a:lstStyle/>
        <a:p>
          <a:pPr>
            <a:defRPr sz="900" b="0" i="0" u="none" strike="noStrike" kern="1200" baseline="0">
              <a:solidFill>
                <a:srgbClr val="000000"/>
              </a:solidFill>
              <a:latin typeface="Times New Roman"/>
              <a:ea typeface="Times New Roman"/>
              <a:cs typeface="Times New Roman"/>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000000"/>
                </a:solidFill>
                <a:latin typeface="Times New Roman"/>
                <a:ea typeface="Times New Roman"/>
                <a:cs typeface="Times New Roman"/>
              </a:defRPr>
            </a:pPr>
            <a:r>
              <a:rPr lang="en-US"/>
              <a:t>Top 20 States : Sales Volume by Location</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000000"/>
              </a:solidFill>
              <a:latin typeface="Times New Roman"/>
              <a:ea typeface="Times New Roman"/>
              <a:cs typeface="Times New Roman"/>
            </a:defRPr>
          </a:pPr>
          <a:endParaRPr lang="en-US"/>
        </a:p>
      </c:txPr>
    </c:title>
    <c:autoTitleDeleted val="0"/>
    <c:plotArea>
      <c:layout/>
      <c:barChart>
        <c:barDir val="bar"/>
        <c:grouping val="clustered"/>
        <c:varyColors val="0"/>
        <c:ser>
          <c:idx val="0"/>
          <c:order val="0"/>
          <c:tx>
            <c:strRef>
              <c:f>Sheet2!$B$6</c:f>
              <c:strCache>
                <c:ptCount val="1"/>
                <c:pt idx="0">
                  <c:v>Sum of Quantity Sold</c:v>
                </c:pt>
              </c:strCache>
            </c:strRef>
          </c:tx>
          <c:spPr>
            <a:solidFill>
              <a:srgbClr val="70AD47"/>
            </a:solidFill>
            <a:ln>
              <a:noFill/>
            </a:ln>
            <a:effectLst/>
          </c:spPr>
          <c:invertIfNegative val="0"/>
          <c:dPt>
            <c:idx val="0"/>
            <c:invertIfNegative val="0"/>
            <c:bubble3D val="0"/>
            <c:spPr>
              <a:solidFill>
                <a:srgbClr val="FFFF00"/>
              </a:solidFill>
              <a:ln>
                <a:noFill/>
              </a:ln>
              <a:effectLst/>
            </c:spPr>
            <c:extLst>
              <c:ext xmlns:c16="http://schemas.microsoft.com/office/drawing/2014/chart" uri="{C3380CC4-5D6E-409C-BE32-E72D297353CC}">
                <c16:uniqueId val="{00000001-3437-4DC5-9F8B-328BBCE085D2}"/>
              </c:ext>
            </c:extLst>
          </c:dPt>
          <c:dPt>
            <c:idx val="2"/>
            <c:invertIfNegative val="0"/>
            <c:bubble3D val="0"/>
            <c:spPr>
              <a:solidFill>
                <a:srgbClr val="7030A0"/>
              </a:solidFill>
              <a:ln>
                <a:noFill/>
              </a:ln>
              <a:effectLst/>
            </c:spPr>
            <c:extLst>
              <c:ext xmlns:c16="http://schemas.microsoft.com/office/drawing/2014/chart" uri="{C3380CC4-5D6E-409C-BE32-E72D297353CC}">
                <c16:uniqueId val="{00000003-3437-4DC5-9F8B-328BBCE085D2}"/>
              </c:ext>
            </c:extLst>
          </c:dPt>
          <c:dPt>
            <c:idx val="3"/>
            <c:invertIfNegative val="0"/>
            <c:bubble3D val="0"/>
            <c:spPr>
              <a:solidFill>
                <a:srgbClr val="002060"/>
              </a:solidFill>
              <a:ln>
                <a:noFill/>
              </a:ln>
              <a:effectLst/>
            </c:spPr>
            <c:extLst>
              <c:ext xmlns:c16="http://schemas.microsoft.com/office/drawing/2014/chart" uri="{C3380CC4-5D6E-409C-BE32-E72D297353CC}">
                <c16:uniqueId val="{00000005-3437-4DC5-9F8B-328BBCE085D2}"/>
              </c:ext>
            </c:extLst>
          </c:dPt>
          <c:dPt>
            <c:idx val="4"/>
            <c:invertIfNegative val="0"/>
            <c:bubble3D val="0"/>
            <c:spPr>
              <a:solidFill>
                <a:srgbClr val="0070C0"/>
              </a:solidFill>
              <a:ln>
                <a:noFill/>
              </a:ln>
              <a:effectLst/>
            </c:spPr>
            <c:extLst>
              <c:ext xmlns:c16="http://schemas.microsoft.com/office/drawing/2014/chart" uri="{C3380CC4-5D6E-409C-BE32-E72D297353CC}">
                <c16:uniqueId val="{00000007-3437-4DC5-9F8B-328BBCE085D2}"/>
              </c:ext>
            </c:extLst>
          </c:dPt>
          <c:dPt>
            <c:idx val="5"/>
            <c:invertIfNegative val="0"/>
            <c:bubble3D val="0"/>
            <c:spPr>
              <a:solidFill>
                <a:srgbClr val="FF0000"/>
              </a:solidFill>
              <a:ln>
                <a:noFill/>
              </a:ln>
              <a:effectLst/>
            </c:spPr>
            <c:extLst>
              <c:ext xmlns:c16="http://schemas.microsoft.com/office/drawing/2014/chart" uri="{C3380CC4-5D6E-409C-BE32-E72D297353CC}">
                <c16:uniqueId val="{00000009-3437-4DC5-9F8B-328BBCE085D2}"/>
              </c:ext>
            </c:extLst>
          </c:dPt>
          <c:dPt>
            <c:idx val="6"/>
            <c:invertIfNegative val="0"/>
            <c:bubble3D val="0"/>
            <c:spPr>
              <a:solidFill>
                <a:srgbClr val="00B0F0"/>
              </a:solidFill>
              <a:ln>
                <a:noFill/>
              </a:ln>
              <a:effectLst/>
            </c:spPr>
            <c:extLst>
              <c:ext xmlns:c16="http://schemas.microsoft.com/office/drawing/2014/chart" uri="{C3380CC4-5D6E-409C-BE32-E72D297353CC}">
                <c16:uniqueId val="{0000000B-3437-4DC5-9F8B-328BBCE085D2}"/>
              </c:ext>
            </c:extLst>
          </c:dPt>
          <c:dPt>
            <c:idx val="7"/>
            <c:invertIfNegative val="0"/>
            <c:bubble3D val="0"/>
            <c:spPr>
              <a:solidFill>
                <a:srgbClr val="C615E6"/>
              </a:solidFill>
              <a:ln>
                <a:noFill/>
              </a:ln>
              <a:effectLst/>
            </c:spPr>
            <c:extLst>
              <c:ext xmlns:c16="http://schemas.microsoft.com/office/drawing/2014/chart" uri="{C3380CC4-5D6E-409C-BE32-E72D297353CC}">
                <c16:uniqueId val="{0000000D-3437-4DC5-9F8B-328BBCE085D2}"/>
              </c:ext>
            </c:extLst>
          </c:dPt>
          <c:dPt>
            <c:idx val="8"/>
            <c:invertIfNegative val="0"/>
            <c:bubble3D val="0"/>
            <c:spPr>
              <a:solidFill>
                <a:srgbClr val="E30B86"/>
              </a:solidFill>
              <a:ln>
                <a:noFill/>
              </a:ln>
              <a:effectLst/>
            </c:spPr>
            <c:extLst>
              <c:ext xmlns:c16="http://schemas.microsoft.com/office/drawing/2014/chart" uri="{C3380CC4-5D6E-409C-BE32-E72D297353CC}">
                <c16:uniqueId val="{0000000F-3437-4DC5-9F8B-328BBCE085D2}"/>
              </c:ext>
            </c:extLst>
          </c:dPt>
          <c:dPt>
            <c:idx val="9"/>
            <c:invertIfNegative val="0"/>
            <c:bubble3D val="0"/>
            <c:spPr>
              <a:solidFill>
                <a:srgbClr val="00B050"/>
              </a:solidFill>
              <a:ln>
                <a:noFill/>
              </a:ln>
              <a:effectLst/>
            </c:spPr>
            <c:extLst>
              <c:ext xmlns:c16="http://schemas.microsoft.com/office/drawing/2014/chart" uri="{C3380CC4-5D6E-409C-BE32-E72D297353CC}">
                <c16:uniqueId val="{00000011-3437-4DC5-9F8B-328BBCE085D2}"/>
              </c:ext>
            </c:extLst>
          </c:dPt>
          <c:dPt>
            <c:idx val="10"/>
            <c:invertIfNegative val="0"/>
            <c:bubble3D val="0"/>
            <c:spPr>
              <a:solidFill>
                <a:srgbClr val="808080"/>
              </a:solidFill>
              <a:ln>
                <a:noFill/>
              </a:ln>
              <a:effectLst/>
            </c:spPr>
            <c:extLst>
              <c:ext xmlns:c16="http://schemas.microsoft.com/office/drawing/2014/chart" uri="{C3380CC4-5D6E-409C-BE32-E72D297353CC}">
                <c16:uniqueId val="{00000013-3437-4DC5-9F8B-328BBCE085D2}"/>
              </c:ext>
            </c:extLst>
          </c:dPt>
          <c:dPt>
            <c:idx val="11"/>
            <c:invertIfNegative val="0"/>
            <c:bubble3D val="0"/>
            <c:spPr>
              <a:solidFill>
                <a:srgbClr val="0FD2D9"/>
              </a:solidFill>
              <a:ln>
                <a:noFill/>
              </a:ln>
              <a:effectLst/>
            </c:spPr>
            <c:extLst>
              <c:ext xmlns:c16="http://schemas.microsoft.com/office/drawing/2014/chart" uri="{C3380CC4-5D6E-409C-BE32-E72D297353CC}">
                <c16:uniqueId val="{00000015-3437-4DC5-9F8B-328BBCE085D2}"/>
              </c:ext>
            </c:extLst>
          </c:dPt>
          <c:dPt>
            <c:idx val="12"/>
            <c:invertIfNegative val="0"/>
            <c:bubble3D val="0"/>
            <c:spPr>
              <a:solidFill>
                <a:srgbClr val="ED5E0C"/>
              </a:solidFill>
              <a:ln>
                <a:noFill/>
              </a:ln>
              <a:effectLst/>
            </c:spPr>
            <c:extLst>
              <c:ext xmlns:c16="http://schemas.microsoft.com/office/drawing/2014/chart" uri="{C3380CC4-5D6E-409C-BE32-E72D297353CC}">
                <c16:uniqueId val="{00000017-3437-4DC5-9F8B-328BBCE085D2}"/>
              </c:ext>
            </c:extLst>
          </c:dPt>
          <c:dPt>
            <c:idx val="13"/>
            <c:invertIfNegative val="0"/>
            <c:bubble3D val="0"/>
            <c:spPr>
              <a:solidFill>
                <a:srgbClr val="FFFF00"/>
              </a:solidFill>
              <a:ln>
                <a:noFill/>
              </a:ln>
              <a:effectLst/>
            </c:spPr>
            <c:extLst>
              <c:ext xmlns:c16="http://schemas.microsoft.com/office/drawing/2014/chart" uri="{C3380CC4-5D6E-409C-BE32-E72D297353CC}">
                <c16:uniqueId val="{00000019-3437-4DC5-9F8B-328BBCE085D2}"/>
              </c:ext>
            </c:extLst>
          </c:dPt>
          <c:dPt>
            <c:idx val="14"/>
            <c:invertIfNegative val="0"/>
            <c:bubble3D val="0"/>
            <c:spPr>
              <a:solidFill>
                <a:srgbClr val="1C04BA"/>
              </a:solidFill>
              <a:ln>
                <a:noFill/>
              </a:ln>
              <a:effectLst/>
            </c:spPr>
            <c:extLst>
              <c:ext xmlns:c16="http://schemas.microsoft.com/office/drawing/2014/chart" uri="{C3380CC4-5D6E-409C-BE32-E72D297353CC}">
                <c16:uniqueId val="{0000001B-3437-4DC5-9F8B-328BBCE085D2}"/>
              </c:ext>
            </c:extLst>
          </c:dPt>
          <c:dPt>
            <c:idx val="15"/>
            <c:invertIfNegative val="0"/>
            <c:bubble3D val="0"/>
            <c:spPr>
              <a:solidFill>
                <a:srgbClr val="DB047B"/>
              </a:solidFill>
              <a:ln>
                <a:noFill/>
              </a:ln>
              <a:effectLst/>
            </c:spPr>
            <c:extLst>
              <c:ext xmlns:c16="http://schemas.microsoft.com/office/drawing/2014/chart" uri="{C3380CC4-5D6E-409C-BE32-E72D297353CC}">
                <c16:uniqueId val="{0000001D-3437-4DC5-9F8B-328BBCE085D2}"/>
              </c:ext>
            </c:extLst>
          </c:dPt>
          <c:dPt>
            <c:idx val="16"/>
            <c:invertIfNegative val="0"/>
            <c:bubble3D val="0"/>
            <c:spPr>
              <a:solidFill>
                <a:srgbClr val="FF0000"/>
              </a:solidFill>
              <a:ln>
                <a:noFill/>
              </a:ln>
              <a:effectLst/>
            </c:spPr>
            <c:extLst>
              <c:ext xmlns:c16="http://schemas.microsoft.com/office/drawing/2014/chart" uri="{C3380CC4-5D6E-409C-BE32-E72D297353CC}">
                <c16:uniqueId val="{0000001F-3437-4DC5-9F8B-328BBCE085D2}"/>
              </c:ext>
            </c:extLst>
          </c:dPt>
          <c:dPt>
            <c:idx val="17"/>
            <c:invertIfNegative val="0"/>
            <c:bubble3D val="0"/>
            <c:spPr>
              <a:solidFill>
                <a:srgbClr val="7030A0"/>
              </a:solidFill>
              <a:ln>
                <a:noFill/>
              </a:ln>
              <a:effectLst/>
            </c:spPr>
            <c:extLst>
              <c:ext xmlns:c16="http://schemas.microsoft.com/office/drawing/2014/chart" uri="{C3380CC4-5D6E-409C-BE32-E72D297353CC}">
                <c16:uniqueId val="{00000021-3437-4DC5-9F8B-328BBCE085D2}"/>
              </c:ext>
            </c:extLst>
          </c:dPt>
          <c:dPt>
            <c:idx val="18"/>
            <c:invertIfNegative val="0"/>
            <c:bubble3D val="0"/>
            <c:spPr>
              <a:solidFill>
                <a:srgbClr val="002060"/>
              </a:solidFill>
              <a:ln>
                <a:noFill/>
              </a:ln>
              <a:effectLst/>
            </c:spPr>
            <c:extLst>
              <c:ext xmlns:c16="http://schemas.microsoft.com/office/drawing/2014/chart" uri="{C3380CC4-5D6E-409C-BE32-E72D297353CC}">
                <c16:uniqueId val="{00000023-3437-4DC5-9F8B-328BBCE085D2}"/>
              </c:ext>
            </c:extLst>
          </c:dPt>
          <c:dPt>
            <c:idx val="19"/>
            <c:invertIfNegative val="0"/>
            <c:bubble3D val="0"/>
            <c:spPr>
              <a:solidFill>
                <a:srgbClr val="5B9BD5"/>
              </a:solidFill>
              <a:ln>
                <a:noFill/>
              </a:ln>
              <a:effectLst/>
            </c:spPr>
            <c:extLst>
              <c:ext xmlns:c16="http://schemas.microsoft.com/office/drawing/2014/chart" uri="{C3380CC4-5D6E-409C-BE32-E72D297353CC}">
                <c16:uniqueId val="{00000025-3437-4DC5-9F8B-328BBCE085D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0000"/>
                    </a:solidFill>
                    <a:latin typeface="Times New Roman"/>
                    <a:ea typeface="Times New Roman"/>
                    <a:cs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Sheet2!$A$7:$A$26</c:f>
              <c:strCache>
                <c:ptCount val="20"/>
                <c:pt idx="0">
                  <c:v>Florida</c:v>
                </c:pt>
                <c:pt idx="1">
                  <c:v>California</c:v>
                </c:pt>
                <c:pt idx="2">
                  <c:v>Pennsylvania</c:v>
                </c:pt>
                <c:pt idx="3">
                  <c:v>Texas</c:v>
                </c:pt>
                <c:pt idx="4">
                  <c:v>Georgia</c:v>
                </c:pt>
                <c:pt idx="5">
                  <c:v>New Jersey</c:v>
                </c:pt>
                <c:pt idx="6">
                  <c:v>Ohio</c:v>
                </c:pt>
                <c:pt idx="7">
                  <c:v>Illinois</c:v>
                </c:pt>
                <c:pt idx="8">
                  <c:v>North Carolina</c:v>
                </c:pt>
                <c:pt idx="9">
                  <c:v>Tennessee</c:v>
                </c:pt>
                <c:pt idx="10">
                  <c:v>Missouri</c:v>
                </c:pt>
                <c:pt idx="11">
                  <c:v>Michigan</c:v>
                </c:pt>
                <c:pt idx="12">
                  <c:v>Nevada</c:v>
                </c:pt>
                <c:pt idx="13">
                  <c:v>Virginia</c:v>
                </c:pt>
                <c:pt idx="14">
                  <c:v>Maryland</c:v>
                </c:pt>
                <c:pt idx="15">
                  <c:v>Wisconsin</c:v>
                </c:pt>
                <c:pt idx="16">
                  <c:v>Minnesota</c:v>
                </c:pt>
                <c:pt idx="17">
                  <c:v>Arizona</c:v>
                </c:pt>
                <c:pt idx="18">
                  <c:v>Colorado</c:v>
                </c:pt>
                <c:pt idx="19">
                  <c:v>Washington</c:v>
                </c:pt>
              </c:strCache>
            </c:strRef>
          </c:cat>
          <c:val>
            <c:numRef>
              <c:f>Sheet2!$B$7:$B$26</c:f>
              <c:numCache>
                <c:formatCode>General</c:formatCode>
                <c:ptCount val="20"/>
                <c:pt idx="0">
                  <c:v>82841</c:v>
                </c:pt>
                <c:pt idx="1">
                  <c:v>73068</c:v>
                </c:pt>
                <c:pt idx="2">
                  <c:v>53878</c:v>
                </c:pt>
                <c:pt idx="3">
                  <c:v>45889</c:v>
                </c:pt>
                <c:pt idx="4">
                  <c:v>34734</c:v>
                </c:pt>
                <c:pt idx="5">
                  <c:v>27770</c:v>
                </c:pt>
                <c:pt idx="6">
                  <c:v>24973</c:v>
                </c:pt>
                <c:pt idx="7">
                  <c:v>23445</c:v>
                </c:pt>
                <c:pt idx="8">
                  <c:v>21824</c:v>
                </c:pt>
                <c:pt idx="9">
                  <c:v>20877</c:v>
                </c:pt>
                <c:pt idx="10">
                  <c:v>16000</c:v>
                </c:pt>
                <c:pt idx="11">
                  <c:v>15498</c:v>
                </c:pt>
                <c:pt idx="12">
                  <c:v>12668</c:v>
                </c:pt>
                <c:pt idx="13">
                  <c:v>12019</c:v>
                </c:pt>
                <c:pt idx="14">
                  <c:v>11157</c:v>
                </c:pt>
                <c:pt idx="15">
                  <c:v>9840</c:v>
                </c:pt>
                <c:pt idx="16">
                  <c:v>9425</c:v>
                </c:pt>
                <c:pt idx="17">
                  <c:v>8732</c:v>
                </c:pt>
                <c:pt idx="18">
                  <c:v>7755</c:v>
                </c:pt>
                <c:pt idx="19">
                  <c:v>7398</c:v>
                </c:pt>
              </c:numCache>
            </c:numRef>
          </c:val>
          <c:extLst>
            <c:ext xmlns:c16="http://schemas.microsoft.com/office/drawing/2014/chart" uri="{C3380CC4-5D6E-409C-BE32-E72D297353CC}">
              <c16:uniqueId val="{00000026-3437-4DC5-9F8B-328BBCE085D2}"/>
            </c:ext>
          </c:extLst>
        </c:ser>
        <c:dLbls>
          <c:showLegendKey val="0"/>
          <c:showVal val="0"/>
          <c:showCatName val="0"/>
          <c:showSerName val="0"/>
          <c:showPercent val="0"/>
          <c:showBubbleSize val="0"/>
        </c:dLbls>
        <c:gapWidth val="69"/>
        <c:axId val="190262280"/>
        <c:axId val="190269448"/>
      </c:barChart>
      <c:catAx>
        <c:axId val="190262280"/>
        <c:scaling>
          <c:orientation val="minMax"/>
        </c:scaling>
        <c:delete val="0"/>
        <c:axPos val="l"/>
        <c:numFmt formatCode="General" sourceLinked="1"/>
        <c:majorTickMark val="none"/>
        <c:minorTickMark val="none"/>
        <c:tickLblPos val="nextTo"/>
        <c:spPr>
          <a:noFill/>
          <a:ln w="9525" cap="flat" cmpd="sng" algn="ctr">
            <a:solidFill>
              <a:srgbClr val="000000"/>
            </a:solidFill>
            <a:prstDash val="solid"/>
            <a:round/>
          </a:ln>
          <a:effectLst/>
        </c:spPr>
        <c:txPr>
          <a:bodyPr rot="-60000000" spcFirstLastPara="1" vertOverflow="ellipsis" vert="horz" wrap="square" anchor="ctr" anchorCtr="1"/>
          <a:lstStyle/>
          <a:p>
            <a:pPr>
              <a:defRPr sz="900" b="0" i="0" u="none" strike="noStrike" kern="1200" baseline="0">
                <a:solidFill>
                  <a:srgbClr val="000000"/>
                </a:solidFill>
                <a:latin typeface="Times New Roman"/>
                <a:ea typeface="Times New Roman"/>
                <a:cs typeface="Times New Roman"/>
              </a:defRPr>
            </a:pPr>
            <a:endParaRPr lang="en-US"/>
          </a:p>
        </c:txPr>
        <c:crossAx val="190269448"/>
        <c:crosses val="autoZero"/>
        <c:auto val="1"/>
        <c:lblAlgn val="ctr"/>
        <c:lblOffset val="100"/>
        <c:noMultiLvlLbl val="0"/>
      </c:catAx>
      <c:valAx>
        <c:axId val="190269448"/>
        <c:scaling>
          <c:orientation val="minMax"/>
        </c:scaling>
        <c:delete val="1"/>
        <c:axPos val="b"/>
        <c:numFmt formatCode="General" sourceLinked="1"/>
        <c:majorTickMark val="none"/>
        <c:minorTickMark val="none"/>
        <c:tickLblPos val="nextTo"/>
        <c:crossAx val="1902622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[pricecarcategorization.xlsx]Sheet1!PivotTable2</c:name>
    <c:fmtId val="-1"/>
  </c:pivotSource>
  <c:chart>
    <c:title>
      <c:tx>
        <c:rich>
          <a:bodyPr rot="0" spcFirstLastPara="1" vertOverflow="ellipsis" vert="horz" wrap="square" anchor="ctr" anchorCtr="1"/>
          <a:lstStyle/>
          <a:p>
            <a:pPr>
              <a:defRPr sz="1400" b="1" i="0" u="none" strike="noStrike" kern="1200" spc="0" baseline="0">
                <a:solidFill>
                  <a:srgbClr val="000000"/>
                </a:solidFill>
                <a:latin typeface="Times New Roman"/>
                <a:ea typeface="Times New Roman"/>
                <a:cs typeface="Times New Roman"/>
              </a:defRPr>
            </a:pPr>
            <a:r>
              <a:rPr lang="en-US"/>
              <a:t>Car Price Categorization</a:t>
            </a:r>
          </a:p>
        </c:rich>
      </c:tx>
      <c:overlay val="0"/>
      <c:spPr>
        <a:noFill/>
        <a:ln w="25400">
          <a:noFill/>
        </a:ln>
        <a:effectLst/>
      </c:spPr>
      <c:txPr>
        <a:bodyPr rot="0" spcFirstLastPara="1" vertOverflow="ellipsis" vert="horz" wrap="square" anchor="ctr" anchorCtr="1"/>
        <a:lstStyle/>
        <a:p>
          <a:pPr>
            <a:defRPr sz="1400" b="1" i="0" u="none" strike="noStrike" kern="1200" spc="0" baseline="0">
              <a:solidFill>
                <a:srgbClr val="000000"/>
              </a:solidFill>
              <a:latin typeface="Times New Roman"/>
              <a:ea typeface="Times New Roman"/>
              <a:cs typeface="Times New Roman"/>
            </a:defRPr>
          </a:pPr>
          <a:endParaRPr lang="en-US"/>
        </a:p>
      </c:txPr>
    </c:title>
    <c:autoTitleDeleted val="0"/>
    <c:pivotFmts>
      <c:pivotFmt>
        <c:idx val="0"/>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a:ea typeface="Times New Roman"/>
                  <a:cs typeface="Times New Roman"/>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FF00"/>
          </a:solidFill>
          <a:ln>
            <a:noFill/>
          </a:ln>
          <a:effectLst/>
        </c:spPr>
      </c:pivotFmt>
      <c:pivotFmt>
        <c:idx val="2"/>
        <c:spPr>
          <a:solidFill>
            <a:srgbClr val="70AD47"/>
          </a:solidFill>
          <a:ln>
            <a:noFill/>
          </a:ln>
          <a:effectLst/>
        </c:spPr>
      </c:pivotFmt>
      <c:pivotFmt>
        <c:idx val="3"/>
        <c:spPr>
          <a:solidFill>
            <a:srgbClr val="002060"/>
          </a:solidFill>
          <a:ln>
            <a:noFill/>
          </a:ln>
          <a:effectLst/>
        </c:spPr>
      </c:pivotFmt>
      <c:pivotFmt>
        <c:idx val="4"/>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a:ea typeface="Times New Roman"/>
                  <a:cs typeface="Times New Roman"/>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002060"/>
          </a:solidFill>
          <a:ln>
            <a:noFill/>
          </a:ln>
          <a:effectLst/>
        </c:spPr>
      </c:pivotFmt>
      <c:pivotFmt>
        <c:idx val="6"/>
        <c:spPr>
          <a:solidFill>
            <a:srgbClr val="70AD47"/>
          </a:solidFill>
          <a:ln>
            <a:noFill/>
          </a:ln>
          <a:effectLst/>
        </c:spPr>
      </c:pivotFmt>
      <c:pivotFmt>
        <c:idx val="7"/>
        <c:spPr>
          <a:solidFill>
            <a:srgbClr val="FFFF00"/>
          </a:solidFill>
          <a:ln>
            <a:noFill/>
          </a:ln>
          <a:effectLst/>
        </c:spPr>
      </c:pivotFmt>
      <c:pivotFmt>
        <c:idx val="8"/>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a:ea typeface="Times New Roman"/>
                  <a:cs typeface="Times New Roman"/>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002060"/>
          </a:solidFill>
          <a:ln>
            <a:noFill/>
          </a:ln>
          <a:effectLst/>
        </c:spPr>
      </c:pivotFmt>
      <c:pivotFmt>
        <c:idx val="10"/>
        <c:spPr>
          <a:solidFill>
            <a:srgbClr val="70AD47"/>
          </a:solidFill>
          <a:ln>
            <a:noFill/>
          </a:ln>
          <a:effectLst/>
        </c:spPr>
      </c:pivotFmt>
      <c:pivotFmt>
        <c:idx val="11"/>
        <c:spPr>
          <a:solidFill>
            <a:srgbClr val="FFFF00"/>
          </a:solidFill>
          <a:ln>
            <a:noFill/>
          </a:ln>
          <a:effectLst/>
        </c:spPr>
      </c:pivotFmt>
    </c:pivotFmts>
    <c:plotArea>
      <c:layout/>
      <c:barChart>
        <c:barDir val="bar"/>
        <c:grouping val="clustered"/>
        <c:varyColors val="0"/>
        <c:ser>
          <c:idx val="0"/>
          <c:order val="0"/>
          <c:tx>
            <c:strRef>
              <c:f>Sheet1!$B$3</c:f>
              <c:strCache>
                <c:ptCount val="1"/>
                <c:pt idx="0">
                  <c:v>Total</c:v>
                </c:pt>
              </c:strCache>
            </c:strRef>
          </c:tx>
          <c:spPr>
            <a:solidFill>
              <a:srgbClr val="FFC000"/>
            </a:solidFill>
            <a:ln>
              <a:noFill/>
            </a:ln>
            <a:effectLst/>
          </c:spPr>
          <c:invertIfNegative val="0"/>
          <c:dPt>
            <c:idx val="0"/>
            <c:invertIfNegative val="0"/>
            <c:bubble3D val="0"/>
            <c:spPr>
              <a:solidFill>
                <a:srgbClr val="002060"/>
              </a:solidFill>
              <a:ln>
                <a:noFill/>
              </a:ln>
              <a:effectLst/>
            </c:spPr>
            <c:extLst>
              <c:ext xmlns:c16="http://schemas.microsoft.com/office/drawing/2014/chart" uri="{C3380CC4-5D6E-409C-BE32-E72D297353CC}">
                <c16:uniqueId val="{00000001-E4C1-4785-A0C8-F827C9AB92CC}"/>
              </c:ext>
            </c:extLst>
          </c:dPt>
          <c:dPt>
            <c:idx val="1"/>
            <c:invertIfNegative val="0"/>
            <c:bubble3D val="0"/>
            <c:spPr>
              <a:solidFill>
                <a:srgbClr val="70AD47"/>
              </a:solidFill>
              <a:ln>
                <a:noFill/>
              </a:ln>
              <a:effectLst/>
            </c:spPr>
            <c:extLst>
              <c:ext xmlns:c16="http://schemas.microsoft.com/office/drawing/2014/chart" uri="{C3380CC4-5D6E-409C-BE32-E72D297353CC}">
                <c16:uniqueId val="{00000003-E4C1-4785-A0C8-F827C9AB92CC}"/>
              </c:ext>
            </c:extLst>
          </c:dPt>
          <c:dPt>
            <c:idx val="3"/>
            <c:invertIfNegative val="0"/>
            <c:bubble3D val="0"/>
            <c:spPr>
              <a:solidFill>
                <a:srgbClr val="FFFF00"/>
              </a:solidFill>
              <a:ln>
                <a:noFill/>
              </a:ln>
              <a:effectLst/>
            </c:spPr>
            <c:extLst>
              <c:ext xmlns:c16="http://schemas.microsoft.com/office/drawing/2014/chart" uri="{C3380CC4-5D6E-409C-BE32-E72D297353CC}">
                <c16:uniqueId val="{00000005-E4C1-4785-A0C8-F827C9AB92CC}"/>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a:ea typeface="Times New Roman"/>
                    <a:cs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Sheet1!$A$4:$A$8</c:f>
              <c:strCache>
                <c:ptCount val="4"/>
                <c:pt idx="0">
                  <c:v>Premium ($45K-$75K)</c:v>
                </c:pt>
                <c:pt idx="1">
                  <c:v>Mid-range ($25K-$45K)</c:v>
                </c:pt>
                <c:pt idx="2">
                  <c:v>Luxury (&gt;$75K)</c:v>
                </c:pt>
                <c:pt idx="3">
                  <c:v>Budget (&lt;$25K)</c:v>
                </c:pt>
              </c:strCache>
            </c:strRef>
          </c:cat>
          <c:val>
            <c:numRef>
              <c:f>Sheet1!$B$4:$B$8</c:f>
              <c:numCache>
                <c:formatCode>0.00%</c:formatCode>
                <c:ptCount val="4"/>
                <c:pt idx="0">
                  <c:v>1.1212213914243638E-2</c:v>
                </c:pt>
                <c:pt idx="1">
                  <c:v>0.12929854890996317</c:v>
                </c:pt>
                <c:pt idx="2">
                  <c:v>1.6054714086173737E-3</c:v>
                </c:pt>
                <c:pt idx="3">
                  <c:v>0.85788376576717584</c:v>
                </c:pt>
              </c:numCache>
            </c:numRef>
          </c:val>
          <c:extLst>
            <c:ext xmlns:c16="http://schemas.microsoft.com/office/drawing/2014/chart" uri="{C3380CC4-5D6E-409C-BE32-E72D297353CC}">
              <c16:uniqueId val="{00000006-E4C1-4785-A0C8-F827C9AB92CC}"/>
            </c:ext>
          </c:extLst>
        </c:ser>
        <c:dLbls>
          <c:showLegendKey val="0"/>
          <c:showVal val="0"/>
          <c:showCatName val="0"/>
          <c:showSerName val="0"/>
          <c:showPercent val="0"/>
          <c:showBubbleSize val="0"/>
        </c:dLbls>
        <c:gapWidth val="30"/>
        <c:axId val="1743347719"/>
        <c:axId val="1743553543"/>
      </c:barChart>
      <c:catAx>
        <c:axId val="1743347719"/>
        <c:scaling>
          <c:orientation val="minMax"/>
        </c:scaling>
        <c:delete val="0"/>
        <c:axPos val="l"/>
        <c:numFmt formatCode="General" sourceLinked="1"/>
        <c:majorTickMark val="none"/>
        <c:minorTickMark val="none"/>
        <c:tickLblPos val="nextTo"/>
        <c:spPr>
          <a:noFill/>
          <a:ln w="9525" cap="flat" cmpd="sng" algn="ctr">
            <a:solidFill>
              <a:srgbClr val="000000"/>
            </a:solidFill>
            <a:prstDash val="solid"/>
            <a:round/>
          </a:ln>
          <a:effectLst/>
        </c:spPr>
        <c:txPr>
          <a:bodyPr rot="-60000000" spcFirstLastPara="1" vertOverflow="ellipsis" vert="horz" wrap="square" anchor="ctr" anchorCtr="1"/>
          <a:lstStyle/>
          <a:p>
            <a:pPr>
              <a:defRPr sz="900" b="0" i="0" u="none" strike="noStrike" kern="1200" baseline="0">
                <a:solidFill>
                  <a:srgbClr val="000000"/>
                </a:solidFill>
                <a:latin typeface="Times New Roman"/>
                <a:ea typeface="Times New Roman"/>
                <a:cs typeface="Times New Roman"/>
              </a:defRPr>
            </a:pPr>
            <a:endParaRPr lang="en-US"/>
          </a:p>
        </c:txPr>
        <c:crossAx val="1743553543"/>
        <c:crosses val="autoZero"/>
        <c:auto val="1"/>
        <c:lblAlgn val="ctr"/>
        <c:lblOffset val="100"/>
        <c:noMultiLvlLbl val="0"/>
      </c:catAx>
      <c:valAx>
        <c:axId val="1743553543"/>
        <c:scaling>
          <c:orientation val="minMax"/>
        </c:scaling>
        <c:delete val="1"/>
        <c:axPos val="b"/>
        <c:numFmt formatCode="0.00%" sourceLinked="1"/>
        <c:majorTickMark val="none"/>
        <c:minorTickMark val="none"/>
        <c:tickLblPos val="nextTo"/>
        <c:crossAx val="174334771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[mileage_categorization.xlsx]Sheet1!PivotTable2</c:name>
    <c:fmtId val="-1"/>
  </c:pivotSource>
  <c:chart>
    <c:title>
      <c:tx>
        <c:rich>
          <a:bodyPr rot="0" spcFirstLastPara="1" vertOverflow="ellipsis" vert="horz" wrap="square" anchor="ctr" anchorCtr="1"/>
          <a:lstStyle/>
          <a:p>
            <a:pPr>
              <a:defRPr sz="1400" b="1" i="0" u="none" strike="noStrike" kern="1200" spc="0" baseline="0">
                <a:solidFill>
                  <a:srgbClr val="000000"/>
                </a:solidFill>
                <a:latin typeface="Times New Roman"/>
                <a:ea typeface="Times New Roman"/>
                <a:cs typeface="Times New Roman"/>
              </a:defRPr>
            </a:pPr>
            <a:r>
              <a:rPr lang="en-US"/>
              <a:t>Car Mileage Categorization</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000000"/>
              </a:solidFill>
              <a:latin typeface="Times New Roman"/>
              <a:ea typeface="Times New Roman"/>
              <a:cs typeface="Times New Roman"/>
            </a:defRPr>
          </a:pPr>
          <a:endParaRPr lang="en-US"/>
        </a:p>
      </c:txPr>
    </c:title>
    <c:autoTitleDeleted val="0"/>
    <c:pivotFmts>
      <c:pivotFmt>
        <c:idx val="0"/>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a:ea typeface="Times New Roman"/>
                  <a:cs typeface="Times New Roman"/>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7030A0"/>
          </a:solidFill>
          <a:ln>
            <a:noFill/>
          </a:ln>
          <a:effectLst/>
        </c:spPr>
      </c:pivotFmt>
      <c:pivotFmt>
        <c:idx val="2"/>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a:ea typeface="Times New Roman"/>
                  <a:cs typeface="Times New Roman"/>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7030A0"/>
          </a:solidFill>
          <a:ln>
            <a:noFill/>
          </a:ln>
          <a:effectLst/>
        </c:spPr>
      </c:pivotFmt>
      <c:pivotFmt>
        <c:idx val="4"/>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a:ea typeface="Times New Roman"/>
                  <a:cs typeface="Times New Roman"/>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7030A0"/>
          </a:solidFill>
          <a:ln>
            <a:noFill/>
          </a:ln>
          <a:effectLst/>
        </c:spPr>
      </c:pivotFmt>
    </c:pivotFmts>
    <c:plotArea>
      <c:layout/>
      <c:barChart>
        <c:barDir val="bar"/>
        <c:grouping val="clustered"/>
        <c:varyColors val="0"/>
        <c:ser>
          <c:idx val="0"/>
          <c:order val="0"/>
          <c:tx>
            <c:strRef>
              <c:f>Sheet1!$B$4</c:f>
              <c:strCache>
                <c:ptCount val="1"/>
                <c:pt idx="0">
                  <c:v>Total</c:v>
                </c:pt>
              </c:strCache>
            </c:strRef>
          </c:tx>
          <c:spPr>
            <a:solidFill>
              <a:srgbClr val="FFC000"/>
            </a:solidFill>
            <a:ln>
              <a:noFill/>
            </a:ln>
            <a:effectLst/>
          </c:spPr>
          <c:invertIfNegative val="0"/>
          <c:dPt>
            <c:idx val="0"/>
            <c:invertIfNegative val="0"/>
            <c:bubble3D val="0"/>
            <c:spPr>
              <a:solidFill>
                <a:srgbClr val="7030A0"/>
              </a:solidFill>
              <a:ln>
                <a:noFill/>
              </a:ln>
              <a:effectLst/>
            </c:spPr>
            <c:extLst>
              <c:ext xmlns:c16="http://schemas.microsoft.com/office/drawing/2014/chart" uri="{C3380CC4-5D6E-409C-BE32-E72D297353CC}">
                <c16:uniqueId val="{00000001-E4F5-4AC0-8835-081E83BB3AD7}"/>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a:ea typeface="Times New Roman"/>
                    <a:cs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Sheet1!$A$5:$A$7</c:f>
              <c:strCache>
                <c:ptCount val="2"/>
                <c:pt idx="0">
                  <c:v>High (50K-100K)</c:v>
                </c:pt>
                <c:pt idx="1">
                  <c:v>Very High (&gt;100K)</c:v>
                </c:pt>
              </c:strCache>
            </c:strRef>
          </c:cat>
          <c:val>
            <c:numRef>
              <c:f>Sheet1!$B$5:$B$7</c:f>
              <c:numCache>
                <c:formatCode>General</c:formatCode>
                <c:ptCount val="2"/>
                <c:pt idx="0">
                  <c:v>34978</c:v>
                </c:pt>
                <c:pt idx="1">
                  <c:v>29055</c:v>
                </c:pt>
              </c:numCache>
            </c:numRef>
          </c:val>
          <c:extLst>
            <c:ext xmlns:c16="http://schemas.microsoft.com/office/drawing/2014/chart" uri="{C3380CC4-5D6E-409C-BE32-E72D297353CC}">
              <c16:uniqueId val="{00000002-E4F5-4AC0-8835-081E83BB3AD7}"/>
            </c:ext>
          </c:extLst>
        </c:ser>
        <c:dLbls>
          <c:showLegendKey val="0"/>
          <c:showVal val="0"/>
          <c:showCatName val="0"/>
          <c:showSerName val="0"/>
          <c:showPercent val="0"/>
          <c:showBubbleSize val="0"/>
        </c:dLbls>
        <c:gapWidth val="80"/>
        <c:axId val="1754906632"/>
        <c:axId val="8069128"/>
      </c:barChart>
      <c:catAx>
        <c:axId val="1754906632"/>
        <c:scaling>
          <c:orientation val="minMax"/>
        </c:scaling>
        <c:delete val="0"/>
        <c:axPos val="l"/>
        <c:numFmt formatCode="General" sourceLinked="1"/>
        <c:majorTickMark val="none"/>
        <c:minorTickMark val="none"/>
        <c:tickLblPos val="nextTo"/>
        <c:spPr>
          <a:noFill/>
          <a:ln w="9525" cap="flat" cmpd="sng" algn="ctr">
            <a:solidFill>
              <a:srgbClr val="000000"/>
            </a:solidFill>
            <a:prstDash val="solid"/>
            <a:round/>
          </a:ln>
          <a:effectLst/>
        </c:spPr>
        <c:txPr>
          <a:bodyPr rot="-60000000" spcFirstLastPara="1" vertOverflow="ellipsis" vert="horz" wrap="square" anchor="ctr" anchorCtr="1"/>
          <a:lstStyle/>
          <a:p>
            <a:pPr>
              <a:defRPr sz="900" b="0" i="0" u="none" strike="noStrike" kern="1200" baseline="0">
                <a:solidFill>
                  <a:srgbClr val="000000"/>
                </a:solidFill>
                <a:latin typeface="Times New Roman"/>
                <a:ea typeface="Times New Roman"/>
                <a:cs typeface="Times New Roman"/>
              </a:defRPr>
            </a:pPr>
            <a:endParaRPr lang="en-US"/>
          </a:p>
        </c:txPr>
        <c:crossAx val="8069128"/>
        <c:crosses val="autoZero"/>
        <c:auto val="1"/>
        <c:lblAlgn val="ctr"/>
        <c:lblOffset val="100"/>
        <c:noMultiLvlLbl val="0"/>
      </c:catAx>
      <c:valAx>
        <c:axId val="8069128"/>
        <c:scaling>
          <c:orientation val="minMax"/>
        </c:scaling>
        <c:delete val="1"/>
        <c:axPos val="b"/>
        <c:numFmt formatCode="General" sourceLinked="1"/>
        <c:majorTickMark val="none"/>
        <c:minorTickMark val="none"/>
        <c:tickLblPos val="nextTo"/>
        <c:crossAx val="17549066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2.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3.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4.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5.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6.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image" Target="../media/image5.png"/></Relationships>
</file>

<file path=ppt/diagrams/_rels/drawing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ADAF00-4549-4706-9D87-A87892A93B36}"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68DA75BC-3A70-4E87-8BB8-BE5904CF8ED5}">
      <dgm:prSet/>
      <dgm:spPr/>
      <dgm:t>
        <a:bodyPr/>
        <a:lstStyle/>
        <a:p>
          <a:pPr>
            <a:lnSpc>
              <a:spcPct val="100000"/>
            </a:lnSpc>
          </a:pPr>
          <a:r>
            <a:rPr lang="en-US" b="1"/>
            <a:t>Digital Transformation &amp; Sales Efficiency</a:t>
          </a:r>
          <a:endParaRPr lang="en-US"/>
        </a:p>
      </dgm:t>
    </dgm:pt>
    <dgm:pt modelId="{530A2117-B77D-4310-88B8-C4C8652A4E2A}" type="parTrans" cxnId="{0A3555A2-5F16-4B39-B4EF-97EB3BD5F342}">
      <dgm:prSet/>
      <dgm:spPr/>
      <dgm:t>
        <a:bodyPr/>
        <a:lstStyle/>
        <a:p>
          <a:endParaRPr lang="en-US"/>
        </a:p>
      </dgm:t>
    </dgm:pt>
    <dgm:pt modelId="{8D7D3E69-8C1B-425E-B504-85A705CE6E5E}" type="sibTrans" cxnId="{0A3555A2-5F16-4B39-B4EF-97EB3BD5F342}">
      <dgm:prSet/>
      <dgm:spPr/>
      <dgm:t>
        <a:bodyPr/>
        <a:lstStyle/>
        <a:p>
          <a:endParaRPr lang="en-US"/>
        </a:p>
      </dgm:t>
    </dgm:pt>
    <dgm:pt modelId="{4FF0C4F6-153A-4799-AA00-33547BAC6BE6}">
      <dgm:prSet/>
      <dgm:spPr/>
      <dgm:t>
        <a:bodyPr/>
        <a:lstStyle/>
        <a:p>
          <a:endParaRPr lang="en-US"/>
        </a:p>
      </dgm:t>
    </dgm:pt>
    <dgm:pt modelId="{453A3B5B-5BB8-48DE-98D9-6CCFBC313EB8}" type="parTrans" cxnId="{45FF8DA4-E02A-4F33-8A5C-D93A1BC3579B}">
      <dgm:prSet/>
      <dgm:spPr/>
      <dgm:t>
        <a:bodyPr/>
        <a:lstStyle/>
        <a:p>
          <a:endParaRPr lang="en-US"/>
        </a:p>
      </dgm:t>
    </dgm:pt>
    <dgm:pt modelId="{AC4F6A52-416C-4D20-BEE4-E985E7EAA9DD}" type="sibTrans" cxnId="{45FF8DA4-E02A-4F33-8A5C-D93A1BC3579B}">
      <dgm:prSet/>
      <dgm:spPr/>
      <dgm:t>
        <a:bodyPr/>
        <a:lstStyle/>
        <a:p>
          <a:endParaRPr lang="en-US"/>
        </a:p>
      </dgm:t>
    </dgm:pt>
    <dgm:pt modelId="{109241C6-4B38-4B76-94E8-1DB824B540CA}" type="pres">
      <dgm:prSet presAssocID="{5AADAF00-4549-4706-9D87-A87892A93B36}" presName="root" presStyleCnt="0">
        <dgm:presLayoutVars>
          <dgm:dir/>
          <dgm:resizeHandles val="exact"/>
        </dgm:presLayoutVars>
      </dgm:prSet>
      <dgm:spPr/>
    </dgm:pt>
    <dgm:pt modelId="{9CBAA7C6-0DCE-4934-8558-1CD9B308751F}" type="pres">
      <dgm:prSet presAssocID="{5AADAF00-4549-4706-9D87-A87892A93B36}" presName="container" presStyleCnt="0">
        <dgm:presLayoutVars>
          <dgm:dir/>
          <dgm:resizeHandles val="exact"/>
        </dgm:presLayoutVars>
      </dgm:prSet>
      <dgm:spPr/>
    </dgm:pt>
    <dgm:pt modelId="{BF3974E7-8BBE-4852-A9EF-F1B5B997BAFD}" type="pres">
      <dgm:prSet presAssocID="{68DA75BC-3A70-4E87-8BB8-BE5904CF8ED5}" presName="compNode" presStyleCnt="0"/>
      <dgm:spPr/>
    </dgm:pt>
    <dgm:pt modelId="{9A286A18-2B54-40F9-B8B0-8ED475D70257}" type="pres">
      <dgm:prSet presAssocID="{68DA75BC-3A70-4E87-8BB8-BE5904CF8ED5}" presName="iconBgRect" presStyleLbl="bgShp" presStyleIdx="0" presStyleCnt="1"/>
      <dgm:spPr/>
    </dgm:pt>
    <dgm:pt modelId="{15C77DE9-BA4C-42E9-AF5F-0791D0F0A0D2}" type="pres">
      <dgm:prSet presAssocID="{68DA75BC-3A70-4E87-8BB8-BE5904CF8ED5}"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55141B08-4BB7-475C-9C30-AB816D478ED9}" type="pres">
      <dgm:prSet presAssocID="{68DA75BC-3A70-4E87-8BB8-BE5904CF8ED5}" presName="spaceRect" presStyleCnt="0"/>
      <dgm:spPr/>
    </dgm:pt>
    <dgm:pt modelId="{38C44DD8-624F-4401-AB02-E746F5D53209}" type="pres">
      <dgm:prSet presAssocID="{68DA75BC-3A70-4E87-8BB8-BE5904CF8ED5}" presName="textRect" presStyleLbl="revTx" presStyleIdx="0" presStyleCnt="1">
        <dgm:presLayoutVars>
          <dgm:chMax val="1"/>
          <dgm:chPref val="1"/>
        </dgm:presLayoutVars>
      </dgm:prSet>
      <dgm:spPr/>
    </dgm:pt>
  </dgm:ptLst>
  <dgm:cxnLst>
    <dgm:cxn modelId="{C20BF530-DCB4-4D17-A9DD-8C06498DA9EC}" type="presOf" srcId="{5AADAF00-4549-4706-9D87-A87892A93B36}" destId="{109241C6-4B38-4B76-94E8-1DB824B540CA}" srcOrd="0" destOrd="0" presId="urn:microsoft.com/office/officeart/2018/2/layout/IconCircleList"/>
    <dgm:cxn modelId="{0A3555A2-5F16-4B39-B4EF-97EB3BD5F342}" srcId="{5AADAF00-4549-4706-9D87-A87892A93B36}" destId="{68DA75BC-3A70-4E87-8BB8-BE5904CF8ED5}" srcOrd="0" destOrd="0" parTransId="{530A2117-B77D-4310-88B8-C4C8652A4E2A}" sibTransId="{8D7D3E69-8C1B-425E-B504-85A705CE6E5E}"/>
    <dgm:cxn modelId="{45FF8DA4-E02A-4F33-8A5C-D93A1BC3579B}" srcId="{68DA75BC-3A70-4E87-8BB8-BE5904CF8ED5}" destId="{4FF0C4F6-153A-4799-AA00-33547BAC6BE6}" srcOrd="0" destOrd="0" parTransId="{453A3B5B-5BB8-48DE-98D9-6CCFBC313EB8}" sibTransId="{AC4F6A52-416C-4D20-BEE4-E985E7EAA9DD}"/>
    <dgm:cxn modelId="{6F76E8B5-C895-4127-B6D8-5E1734B2C254}" type="presOf" srcId="{68DA75BC-3A70-4E87-8BB8-BE5904CF8ED5}" destId="{38C44DD8-624F-4401-AB02-E746F5D53209}" srcOrd="0" destOrd="0" presId="urn:microsoft.com/office/officeart/2018/2/layout/IconCircleList"/>
    <dgm:cxn modelId="{4973A86C-838F-47B2-9B12-EBF4D8FECB8E}" type="presParOf" srcId="{109241C6-4B38-4B76-94E8-1DB824B540CA}" destId="{9CBAA7C6-0DCE-4934-8558-1CD9B308751F}" srcOrd="0" destOrd="0" presId="urn:microsoft.com/office/officeart/2018/2/layout/IconCircleList"/>
    <dgm:cxn modelId="{1D43822F-AFE0-4787-BDC4-E9656A01EC33}" type="presParOf" srcId="{9CBAA7C6-0DCE-4934-8558-1CD9B308751F}" destId="{BF3974E7-8BBE-4852-A9EF-F1B5B997BAFD}" srcOrd="0" destOrd="0" presId="urn:microsoft.com/office/officeart/2018/2/layout/IconCircleList"/>
    <dgm:cxn modelId="{09608484-9FA9-4111-9B85-5448034D3533}" type="presParOf" srcId="{BF3974E7-8BBE-4852-A9EF-F1B5B997BAFD}" destId="{9A286A18-2B54-40F9-B8B0-8ED475D70257}" srcOrd="0" destOrd="0" presId="urn:microsoft.com/office/officeart/2018/2/layout/IconCircleList"/>
    <dgm:cxn modelId="{D6ED4B34-FCC5-4481-81B3-2A3623B271BE}" type="presParOf" srcId="{BF3974E7-8BBE-4852-A9EF-F1B5B997BAFD}" destId="{15C77DE9-BA4C-42E9-AF5F-0791D0F0A0D2}" srcOrd="1" destOrd="0" presId="urn:microsoft.com/office/officeart/2018/2/layout/IconCircleList"/>
    <dgm:cxn modelId="{F7BC4944-70F0-4839-BE2F-553CD6DADA0B}" type="presParOf" srcId="{BF3974E7-8BBE-4852-A9EF-F1B5B997BAFD}" destId="{55141B08-4BB7-475C-9C30-AB816D478ED9}" srcOrd="2" destOrd="0" presId="urn:microsoft.com/office/officeart/2018/2/layout/IconCircleList"/>
    <dgm:cxn modelId="{EB72B4B2-484D-4598-9527-D18C8025F7AE}" type="presParOf" srcId="{BF3974E7-8BBE-4852-A9EF-F1B5B997BAFD}" destId="{38C44DD8-624F-4401-AB02-E746F5D5320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E48A65-468B-49D3-8A96-C25AFBF34B70}" type="doc">
      <dgm:prSet loTypeId="urn:microsoft.com/office/officeart/2005/8/layout/process1" loCatId="process" qsTypeId="urn:microsoft.com/office/officeart/2005/8/quickstyle/simple1" qsCatId="simple" csTypeId="urn:microsoft.com/office/officeart/2005/8/colors/colorful2" csCatId="colorful"/>
      <dgm:spPr/>
      <dgm:t>
        <a:bodyPr/>
        <a:lstStyle/>
        <a:p>
          <a:endParaRPr lang="en-US"/>
        </a:p>
      </dgm:t>
    </dgm:pt>
    <dgm:pt modelId="{7587D0AC-FD34-468A-B469-01D82058F651}">
      <dgm:prSet/>
      <dgm:spPr/>
      <dgm:t>
        <a:bodyPr/>
        <a:lstStyle/>
        <a:p>
          <a:r>
            <a:rPr lang="en-US" b="1" dirty="0"/>
            <a:t>Customer Experience &amp; Staff </a:t>
          </a:r>
          <a:r>
            <a:rPr lang="en-US" b="1"/>
            <a:t>Development</a:t>
          </a:r>
          <a:r>
            <a:rPr lang="en-US" b="1">
              <a:latin typeface="Bierstadt"/>
            </a:rPr>
            <a:t>.</a:t>
          </a:r>
          <a:endParaRPr lang="en-US"/>
        </a:p>
      </dgm:t>
    </dgm:pt>
    <dgm:pt modelId="{FFB8C5E7-F3D6-4554-ADF6-0B0C54167BAB}" type="parTrans" cxnId="{3FCF9946-4AA6-41F5-BDD1-E45DF16DF8B9}">
      <dgm:prSet/>
      <dgm:spPr/>
      <dgm:t>
        <a:bodyPr/>
        <a:lstStyle/>
        <a:p>
          <a:endParaRPr lang="en-US"/>
        </a:p>
      </dgm:t>
    </dgm:pt>
    <dgm:pt modelId="{F61F09A3-C1FD-4FA7-BCAC-197F67B234AB}" type="sibTrans" cxnId="{3FCF9946-4AA6-41F5-BDD1-E45DF16DF8B9}">
      <dgm:prSet/>
      <dgm:spPr/>
      <dgm:t>
        <a:bodyPr/>
        <a:lstStyle/>
        <a:p>
          <a:endParaRPr lang="en-US"/>
        </a:p>
      </dgm:t>
    </dgm:pt>
    <dgm:pt modelId="{D1918034-020F-4E12-B33B-5931F9B47F1B}">
      <dgm:prSet/>
      <dgm:spPr/>
      <dgm:t>
        <a:bodyPr/>
        <a:lstStyle/>
        <a:p>
          <a:r>
            <a:rPr lang="en-US" dirty="0"/>
            <a:t>Focus on Transparency: Provide clear, upfront communication on all pricing, financing options, and fees. This builds trust, which is the foundation of brand loyalty and repeat </a:t>
          </a:r>
          <a:r>
            <a:rPr lang="en-US"/>
            <a:t>business.</a:t>
          </a:r>
          <a:endParaRPr lang="en-US" dirty="0"/>
        </a:p>
      </dgm:t>
    </dgm:pt>
    <dgm:pt modelId="{FD5FC264-5E60-42F4-8556-7F57F96E9A8B}" type="parTrans" cxnId="{3980424C-11B2-4CB1-995C-D65F86164A27}">
      <dgm:prSet/>
      <dgm:spPr/>
      <dgm:t>
        <a:bodyPr/>
        <a:lstStyle/>
        <a:p>
          <a:endParaRPr lang="en-US"/>
        </a:p>
      </dgm:t>
    </dgm:pt>
    <dgm:pt modelId="{5747E56A-729D-4E0F-B55F-0FD16C36B5D6}" type="sibTrans" cxnId="{3980424C-11B2-4CB1-995C-D65F86164A27}">
      <dgm:prSet/>
      <dgm:spPr/>
      <dgm:t>
        <a:bodyPr/>
        <a:lstStyle/>
        <a:p>
          <a:endParaRPr lang="en-US"/>
        </a:p>
      </dgm:t>
    </dgm:pt>
    <dgm:pt modelId="{8F06F52F-266A-4C15-BDDA-184B7DD23AF6}">
      <dgm:prSet/>
      <dgm:spPr/>
      <dgm:t>
        <a:bodyPr/>
        <a:lstStyle/>
        <a:p>
          <a:r>
            <a:rPr lang="en-US"/>
            <a:t>Cultivate a Data-Driven Culture: Implement training that emphasizes the use of your Customer Relationship Management (CRM) system and other data platforms across all departments (sales, service, and parts). Use data to personalize customer interactions and identify their needs.</a:t>
          </a:r>
        </a:p>
      </dgm:t>
    </dgm:pt>
    <dgm:pt modelId="{677511D3-FEEF-40D1-B71B-87E4A77A4601}" type="parTrans" cxnId="{1576ABE7-1F34-4515-9304-EEAC75EEC6AA}">
      <dgm:prSet/>
      <dgm:spPr/>
      <dgm:t>
        <a:bodyPr/>
        <a:lstStyle/>
        <a:p>
          <a:endParaRPr lang="en-US"/>
        </a:p>
      </dgm:t>
    </dgm:pt>
    <dgm:pt modelId="{12CE402B-D608-44B7-B032-CF63838EF237}" type="sibTrans" cxnId="{1576ABE7-1F34-4515-9304-EEAC75EEC6AA}">
      <dgm:prSet/>
      <dgm:spPr/>
      <dgm:t>
        <a:bodyPr/>
        <a:lstStyle/>
        <a:p>
          <a:endParaRPr lang="en-US"/>
        </a:p>
      </dgm:t>
    </dgm:pt>
    <dgm:pt modelId="{C6758C60-AD8D-4600-9A99-E33458B55002}" type="pres">
      <dgm:prSet presAssocID="{60E48A65-468B-49D3-8A96-C25AFBF34B70}" presName="Name0" presStyleCnt="0">
        <dgm:presLayoutVars>
          <dgm:dir/>
          <dgm:resizeHandles val="exact"/>
        </dgm:presLayoutVars>
      </dgm:prSet>
      <dgm:spPr/>
    </dgm:pt>
    <dgm:pt modelId="{9B3BC82F-5373-4A4F-B21C-075820B753EC}" type="pres">
      <dgm:prSet presAssocID="{7587D0AC-FD34-468A-B469-01D82058F651}" presName="node" presStyleLbl="node1" presStyleIdx="0" presStyleCnt="3">
        <dgm:presLayoutVars>
          <dgm:bulletEnabled val="1"/>
        </dgm:presLayoutVars>
      </dgm:prSet>
      <dgm:spPr/>
    </dgm:pt>
    <dgm:pt modelId="{1D228B1C-5C2F-45FF-9E14-A1C6E6F21DE6}" type="pres">
      <dgm:prSet presAssocID="{F61F09A3-C1FD-4FA7-BCAC-197F67B234AB}" presName="sibTrans" presStyleLbl="sibTrans2D1" presStyleIdx="0" presStyleCnt="2"/>
      <dgm:spPr/>
    </dgm:pt>
    <dgm:pt modelId="{A25B7E2A-86E4-49DB-9AC8-024CE6E893CE}" type="pres">
      <dgm:prSet presAssocID="{F61F09A3-C1FD-4FA7-BCAC-197F67B234AB}" presName="connectorText" presStyleLbl="sibTrans2D1" presStyleIdx="0" presStyleCnt="2"/>
      <dgm:spPr/>
    </dgm:pt>
    <dgm:pt modelId="{41E33CB2-8B4E-45C2-93A6-D2B64171391C}" type="pres">
      <dgm:prSet presAssocID="{D1918034-020F-4E12-B33B-5931F9B47F1B}" presName="node" presStyleLbl="node1" presStyleIdx="1" presStyleCnt="3">
        <dgm:presLayoutVars>
          <dgm:bulletEnabled val="1"/>
        </dgm:presLayoutVars>
      </dgm:prSet>
      <dgm:spPr/>
    </dgm:pt>
    <dgm:pt modelId="{498060E9-3AC7-403D-BDFB-9ACE391143E5}" type="pres">
      <dgm:prSet presAssocID="{5747E56A-729D-4E0F-B55F-0FD16C36B5D6}" presName="sibTrans" presStyleLbl="sibTrans2D1" presStyleIdx="1" presStyleCnt="2"/>
      <dgm:spPr/>
    </dgm:pt>
    <dgm:pt modelId="{27E9D63F-411F-430F-8E38-9ED1143007CC}" type="pres">
      <dgm:prSet presAssocID="{5747E56A-729D-4E0F-B55F-0FD16C36B5D6}" presName="connectorText" presStyleLbl="sibTrans2D1" presStyleIdx="1" presStyleCnt="2"/>
      <dgm:spPr/>
    </dgm:pt>
    <dgm:pt modelId="{08905560-C617-4BBD-94E4-A648D1EE63A9}" type="pres">
      <dgm:prSet presAssocID="{8F06F52F-266A-4C15-BDDA-184B7DD23AF6}" presName="node" presStyleLbl="node1" presStyleIdx="2" presStyleCnt="3">
        <dgm:presLayoutVars>
          <dgm:bulletEnabled val="1"/>
        </dgm:presLayoutVars>
      </dgm:prSet>
      <dgm:spPr/>
    </dgm:pt>
  </dgm:ptLst>
  <dgm:cxnLst>
    <dgm:cxn modelId="{6E36D31E-B59F-4A0C-9FB6-A256B8AD70FF}" type="presOf" srcId="{F61F09A3-C1FD-4FA7-BCAC-197F67B234AB}" destId="{A25B7E2A-86E4-49DB-9AC8-024CE6E893CE}" srcOrd="1" destOrd="0" presId="urn:microsoft.com/office/officeart/2005/8/layout/process1"/>
    <dgm:cxn modelId="{3923F53E-FF5E-4396-A62D-E6BA7ED97AF5}" type="presOf" srcId="{7587D0AC-FD34-468A-B469-01D82058F651}" destId="{9B3BC82F-5373-4A4F-B21C-075820B753EC}" srcOrd="0" destOrd="0" presId="urn:microsoft.com/office/officeart/2005/8/layout/process1"/>
    <dgm:cxn modelId="{3FCF9946-4AA6-41F5-BDD1-E45DF16DF8B9}" srcId="{60E48A65-468B-49D3-8A96-C25AFBF34B70}" destId="{7587D0AC-FD34-468A-B469-01D82058F651}" srcOrd="0" destOrd="0" parTransId="{FFB8C5E7-F3D6-4554-ADF6-0B0C54167BAB}" sibTransId="{F61F09A3-C1FD-4FA7-BCAC-197F67B234AB}"/>
    <dgm:cxn modelId="{3980424C-11B2-4CB1-995C-D65F86164A27}" srcId="{60E48A65-468B-49D3-8A96-C25AFBF34B70}" destId="{D1918034-020F-4E12-B33B-5931F9B47F1B}" srcOrd="1" destOrd="0" parTransId="{FD5FC264-5E60-42F4-8556-7F57F96E9A8B}" sibTransId="{5747E56A-729D-4E0F-B55F-0FD16C36B5D6}"/>
    <dgm:cxn modelId="{76425F6F-F9B6-4774-9806-8FDA2142C4AE}" type="presOf" srcId="{D1918034-020F-4E12-B33B-5931F9B47F1B}" destId="{41E33CB2-8B4E-45C2-93A6-D2B64171391C}" srcOrd="0" destOrd="0" presId="urn:microsoft.com/office/officeart/2005/8/layout/process1"/>
    <dgm:cxn modelId="{63198E8D-9110-40FC-A8BE-873B25651BC4}" type="presOf" srcId="{5747E56A-729D-4E0F-B55F-0FD16C36B5D6}" destId="{27E9D63F-411F-430F-8E38-9ED1143007CC}" srcOrd="1" destOrd="0" presId="urn:microsoft.com/office/officeart/2005/8/layout/process1"/>
    <dgm:cxn modelId="{1B06F8A4-0F83-4F95-97C9-67BB21A16B97}" type="presOf" srcId="{5747E56A-729D-4E0F-B55F-0FD16C36B5D6}" destId="{498060E9-3AC7-403D-BDFB-9ACE391143E5}" srcOrd="0" destOrd="0" presId="urn:microsoft.com/office/officeart/2005/8/layout/process1"/>
    <dgm:cxn modelId="{A8DE1EA9-88C7-4F06-A21B-B239CFD93C4B}" type="presOf" srcId="{F61F09A3-C1FD-4FA7-BCAC-197F67B234AB}" destId="{1D228B1C-5C2F-45FF-9E14-A1C6E6F21DE6}" srcOrd="0" destOrd="0" presId="urn:microsoft.com/office/officeart/2005/8/layout/process1"/>
    <dgm:cxn modelId="{2BA7D0AD-E457-4549-845D-996905262868}" type="presOf" srcId="{60E48A65-468B-49D3-8A96-C25AFBF34B70}" destId="{C6758C60-AD8D-4600-9A99-E33458B55002}" srcOrd="0" destOrd="0" presId="urn:microsoft.com/office/officeart/2005/8/layout/process1"/>
    <dgm:cxn modelId="{505238D4-3623-4121-AB1E-B06BC8680A6A}" type="presOf" srcId="{8F06F52F-266A-4C15-BDDA-184B7DD23AF6}" destId="{08905560-C617-4BBD-94E4-A648D1EE63A9}" srcOrd="0" destOrd="0" presId="urn:microsoft.com/office/officeart/2005/8/layout/process1"/>
    <dgm:cxn modelId="{1576ABE7-1F34-4515-9304-EEAC75EEC6AA}" srcId="{60E48A65-468B-49D3-8A96-C25AFBF34B70}" destId="{8F06F52F-266A-4C15-BDDA-184B7DD23AF6}" srcOrd="2" destOrd="0" parTransId="{677511D3-FEEF-40D1-B71B-87E4A77A4601}" sibTransId="{12CE402B-D608-44B7-B032-CF63838EF237}"/>
    <dgm:cxn modelId="{89304FAE-710B-42CE-929F-1F6E24BE4B36}" type="presParOf" srcId="{C6758C60-AD8D-4600-9A99-E33458B55002}" destId="{9B3BC82F-5373-4A4F-B21C-075820B753EC}" srcOrd="0" destOrd="0" presId="urn:microsoft.com/office/officeart/2005/8/layout/process1"/>
    <dgm:cxn modelId="{131F0C89-B25E-4B8B-B13D-1721C3FDA95A}" type="presParOf" srcId="{C6758C60-AD8D-4600-9A99-E33458B55002}" destId="{1D228B1C-5C2F-45FF-9E14-A1C6E6F21DE6}" srcOrd="1" destOrd="0" presId="urn:microsoft.com/office/officeart/2005/8/layout/process1"/>
    <dgm:cxn modelId="{48C79D6F-FE27-443E-A64A-0C462BB1804F}" type="presParOf" srcId="{1D228B1C-5C2F-45FF-9E14-A1C6E6F21DE6}" destId="{A25B7E2A-86E4-49DB-9AC8-024CE6E893CE}" srcOrd="0" destOrd="0" presId="urn:microsoft.com/office/officeart/2005/8/layout/process1"/>
    <dgm:cxn modelId="{BB0F02DD-2308-4EA2-9A9C-41A96D355F1D}" type="presParOf" srcId="{C6758C60-AD8D-4600-9A99-E33458B55002}" destId="{41E33CB2-8B4E-45C2-93A6-D2B64171391C}" srcOrd="2" destOrd="0" presId="urn:microsoft.com/office/officeart/2005/8/layout/process1"/>
    <dgm:cxn modelId="{C8E46DC2-0662-4ECC-A360-F422472E8C68}" type="presParOf" srcId="{C6758C60-AD8D-4600-9A99-E33458B55002}" destId="{498060E9-3AC7-403D-BDFB-9ACE391143E5}" srcOrd="3" destOrd="0" presId="urn:microsoft.com/office/officeart/2005/8/layout/process1"/>
    <dgm:cxn modelId="{099FB1D4-F23B-4538-95F9-A29F7435F89F}" type="presParOf" srcId="{498060E9-3AC7-403D-BDFB-9ACE391143E5}" destId="{27E9D63F-411F-430F-8E38-9ED1143007CC}" srcOrd="0" destOrd="0" presId="urn:microsoft.com/office/officeart/2005/8/layout/process1"/>
    <dgm:cxn modelId="{DC309AEE-C153-457D-924D-73873D796032}" type="presParOf" srcId="{C6758C60-AD8D-4600-9A99-E33458B55002}" destId="{08905560-C617-4BBD-94E4-A648D1EE63A9}"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286A18-2B54-40F9-B8B0-8ED475D70257}">
      <dsp:nvSpPr>
        <dsp:cNvPr id="0" name=""/>
        <dsp:cNvSpPr/>
      </dsp:nvSpPr>
      <dsp:spPr>
        <a:xfrm>
          <a:off x="0" y="1160373"/>
          <a:ext cx="1446580" cy="144658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C77DE9-BA4C-42E9-AF5F-0791D0F0A0D2}">
      <dsp:nvSpPr>
        <dsp:cNvPr id="0" name=""/>
        <dsp:cNvSpPr/>
      </dsp:nvSpPr>
      <dsp:spPr>
        <a:xfrm>
          <a:off x="303781" y="1464155"/>
          <a:ext cx="839016" cy="8390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C44DD8-624F-4401-AB02-E746F5D53209}">
      <dsp:nvSpPr>
        <dsp:cNvPr id="0" name=""/>
        <dsp:cNvSpPr/>
      </dsp:nvSpPr>
      <dsp:spPr>
        <a:xfrm>
          <a:off x="1756562" y="1160373"/>
          <a:ext cx="3409797" cy="14465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b="1" kern="1200"/>
            <a:t>Digital Transformation &amp; Sales Efficiency</a:t>
          </a:r>
          <a:endParaRPr lang="en-US" sz="2400" kern="1200"/>
        </a:p>
      </dsp:txBody>
      <dsp:txXfrm>
        <a:off x="1756562" y="1160373"/>
        <a:ext cx="3409797" cy="14465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3BC82F-5373-4A4F-B21C-075820B753EC}">
      <dsp:nvSpPr>
        <dsp:cNvPr id="0" name=""/>
        <dsp:cNvSpPr/>
      </dsp:nvSpPr>
      <dsp:spPr>
        <a:xfrm>
          <a:off x="9805" y="221211"/>
          <a:ext cx="2930878" cy="332471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Customer Experience &amp; Staff </a:t>
          </a:r>
          <a:r>
            <a:rPr lang="en-US" sz="1800" b="1" kern="1200"/>
            <a:t>Development</a:t>
          </a:r>
          <a:r>
            <a:rPr lang="en-US" sz="1800" b="1" kern="1200">
              <a:latin typeface="Bierstadt"/>
            </a:rPr>
            <a:t>.</a:t>
          </a:r>
          <a:endParaRPr lang="en-US" sz="1800" kern="1200"/>
        </a:p>
      </dsp:txBody>
      <dsp:txXfrm>
        <a:off x="95647" y="307053"/>
        <a:ext cx="2759194" cy="3153031"/>
      </dsp:txXfrm>
    </dsp:sp>
    <dsp:sp modelId="{1D228B1C-5C2F-45FF-9E14-A1C6E6F21DE6}">
      <dsp:nvSpPr>
        <dsp:cNvPr id="0" name=""/>
        <dsp:cNvSpPr/>
      </dsp:nvSpPr>
      <dsp:spPr>
        <a:xfrm>
          <a:off x="3233772" y="1520140"/>
          <a:ext cx="621346" cy="72685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233772" y="1665511"/>
        <a:ext cx="434942" cy="436115"/>
      </dsp:txXfrm>
    </dsp:sp>
    <dsp:sp modelId="{41E33CB2-8B4E-45C2-93A6-D2B64171391C}">
      <dsp:nvSpPr>
        <dsp:cNvPr id="0" name=""/>
        <dsp:cNvSpPr/>
      </dsp:nvSpPr>
      <dsp:spPr>
        <a:xfrm>
          <a:off x="4113035" y="221211"/>
          <a:ext cx="2930878" cy="3324715"/>
        </a:xfrm>
        <a:prstGeom prst="roundRect">
          <a:avLst>
            <a:gd name="adj" fmla="val 10000"/>
          </a:avLst>
        </a:prstGeom>
        <a:solidFill>
          <a:schemeClr val="accent2">
            <a:hueOff val="-5184504"/>
            <a:satOff val="-10204"/>
            <a:lumOff val="637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Focus on Transparency: Provide clear, upfront communication on all pricing, financing options, and fees. This builds trust, which is the foundation of brand loyalty and repeat </a:t>
          </a:r>
          <a:r>
            <a:rPr lang="en-US" sz="1800" kern="1200"/>
            <a:t>business.</a:t>
          </a:r>
          <a:endParaRPr lang="en-US" sz="1800" kern="1200" dirty="0"/>
        </a:p>
      </dsp:txBody>
      <dsp:txXfrm>
        <a:off x="4198877" y="307053"/>
        <a:ext cx="2759194" cy="3153031"/>
      </dsp:txXfrm>
    </dsp:sp>
    <dsp:sp modelId="{498060E9-3AC7-403D-BDFB-9ACE391143E5}">
      <dsp:nvSpPr>
        <dsp:cNvPr id="0" name=""/>
        <dsp:cNvSpPr/>
      </dsp:nvSpPr>
      <dsp:spPr>
        <a:xfrm>
          <a:off x="7337002" y="1520140"/>
          <a:ext cx="621346" cy="726857"/>
        </a:xfrm>
        <a:prstGeom prst="rightArrow">
          <a:avLst>
            <a:gd name="adj1" fmla="val 60000"/>
            <a:gd name="adj2" fmla="val 50000"/>
          </a:avLst>
        </a:prstGeom>
        <a:solidFill>
          <a:schemeClr val="accent2">
            <a:hueOff val="-10369007"/>
            <a:satOff val="-20408"/>
            <a:lumOff val="1274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7337002" y="1665511"/>
        <a:ext cx="434942" cy="436115"/>
      </dsp:txXfrm>
    </dsp:sp>
    <dsp:sp modelId="{08905560-C617-4BBD-94E4-A648D1EE63A9}">
      <dsp:nvSpPr>
        <dsp:cNvPr id="0" name=""/>
        <dsp:cNvSpPr/>
      </dsp:nvSpPr>
      <dsp:spPr>
        <a:xfrm>
          <a:off x="8216265" y="221211"/>
          <a:ext cx="2930878" cy="3324715"/>
        </a:xfrm>
        <a:prstGeom prst="roundRect">
          <a:avLst>
            <a:gd name="adj" fmla="val 10000"/>
          </a:avLst>
        </a:prstGeom>
        <a:solidFill>
          <a:schemeClr val="accent2">
            <a:hueOff val="-10369007"/>
            <a:satOff val="-20408"/>
            <a:lumOff val="127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Cultivate a Data-Driven Culture: Implement training that emphasizes the use of your Customer Relationship Management (CRM) system and other data platforms across all departments (sales, service, and parts). Use data to personalize customer interactions and identify their needs.</a:t>
          </a:r>
        </a:p>
      </dsp:txBody>
      <dsp:txXfrm>
        <a:off x="8302107" y="307053"/>
        <a:ext cx="2759194" cy="3153031"/>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11/25/2025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67783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11/25/2025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91794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11/25/2025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0527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11/25/2025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0331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11/25/2025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79134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11/25/2025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35991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11/25/2025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89955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11/25/2025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41255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11/25/2025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14833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11/25/2025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51634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11/25/2025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7347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11/25/2025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2382876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74" r:id="rId7"/>
    <p:sldLayoutId id="2147483675" r:id="rId8"/>
    <p:sldLayoutId id="2147483676" r:id="rId9"/>
    <p:sldLayoutId id="2147483677" r:id="rId10"/>
    <p:sldLayoutId id="2147483679"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A metal dumbell">
            <a:extLst>
              <a:ext uri="{FF2B5EF4-FFF2-40B4-BE49-F238E27FC236}">
                <a16:creationId xmlns:a16="http://schemas.microsoft.com/office/drawing/2014/main" id="{C3BBA3C9-A140-7214-6E27-31C09C725853}"/>
              </a:ext>
            </a:extLst>
          </p:cNvPr>
          <p:cNvPicPr>
            <a:picLocks noChangeAspect="1"/>
          </p:cNvPicPr>
          <p:nvPr/>
        </p:nvPicPr>
        <p:blipFill>
          <a:blip r:embed="rId2"/>
          <a:srcRect l="7308" t="20917" r="-7" b="25902"/>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p:cNvSpPr>
            <a:spLocks noGrp="1"/>
          </p:cNvSpPr>
          <p:nvPr>
            <p:ph type="ctrTitle"/>
          </p:nvPr>
        </p:nvSpPr>
        <p:spPr>
          <a:xfrm>
            <a:off x="320039" y="5731580"/>
            <a:ext cx="8196431" cy="960120"/>
          </a:xfrm>
          <a:ln>
            <a:noFill/>
          </a:ln>
        </p:spPr>
        <p:txBody>
          <a:bodyPr anchor="ctr">
            <a:normAutofit/>
          </a:bodyPr>
          <a:lstStyle/>
          <a:p>
            <a:r>
              <a:rPr lang="en-US" sz="4400" dirty="0">
                <a:latin typeface="Times New Roman"/>
                <a:cs typeface="Times New Roman"/>
              </a:rPr>
              <a:t>BRIGHT MOTORS</a:t>
            </a:r>
          </a:p>
        </p:txBody>
      </p:sp>
      <p:sp>
        <p:nvSpPr>
          <p:cNvPr id="3" name="Subtitle 2"/>
          <p:cNvSpPr>
            <a:spLocks noGrp="1"/>
          </p:cNvSpPr>
          <p:nvPr>
            <p:ph type="subTitle" idx="1"/>
          </p:nvPr>
        </p:nvSpPr>
        <p:spPr>
          <a:xfrm>
            <a:off x="8604503" y="5731580"/>
            <a:ext cx="3392781" cy="960120"/>
          </a:xfrm>
        </p:spPr>
        <p:txBody>
          <a:bodyPr vert="horz" lIns="91440" tIns="45720" rIns="91440" bIns="45720" rtlCol="0" anchor="ctr">
            <a:normAutofit/>
          </a:bodyPr>
          <a:lstStyle/>
          <a:p>
            <a:pPr algn="r">
              <a:lnSpc>
                <a:spcPct val="100000"/>
              </a:lnSpc>
            </a:pPr>
            <a:r>
              <a:rPr lang="en-US" sz="1600" dirty="0"/>
              <a:t>I</a:t>
            </a:r>
            <a:r>
              <a:rPr lang="en-US" sz="1600" dirty="0">
                <a:latin typeface="Times New Roman"/>
                <a:cs typeface="Times New Roman"/>
              </a:rPr>
              <a:t>N-DEPTH ANALYSIS AND KEY STRATEGIC RECOMMENDATIONS FOR CAR SALES</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A0D3D-6598-98C7-B576-8B7021D74DCA}"/>
              </a:ext>
            </a:extLst>
          </p:cNvPr>
          <p:cNvSpPr>
            <a:spLocks noGrp="1"/>
          </p:cNvSpPr>
          <p:nvPr>
            <p:ph type="title"/>
          </p:nvPr>
        </p:nvSpPr>
        <p:spPr>
          <a:xfrm>
            <a:off x="521208" y="978408"/>
            <a:ext cx="11155680" cy="1109649"/>
          </a:xfrm>
        </p:spPr>
        <p:txBody>
          <a:bodyPr/>
          <a:lstStyle/>
          <a:p>
            <a:pPr algn="ctr"/>
            <a:r>
              <a:rPr lang="en-US" dirty="0">
                <a:latin typeface="Times New Roman"/>
                <a:cs typeface="Times New Roman"/>
              </a:rPr>
              <a:t>AGENDA</a:t>
            </a:r>
          </a:p>
        </p:txBody>
      </p:sp>
      <p:sp>
        <p:nvSpPr>
          <p:cNvPr id="3" name="Content Placeholder 2">
            <a:extLst>
              <a:ext uri="{FF2B5EF4-FFF2-40B4-BE49-F238E27FC236}">
                <a16:creationId xmlns:a16="http://schemas.microsoft.com/office/drawing/2014/main" id="{AD4CB8E1-E553-D641-AD45-2214D5C30E64}"/>
              </a:ext>
            </a:extLst>
          </p:cNvPr>
          <p:cNvSpPr>
            <a:spLocks noGrp="1"/>
          </p:cNvSpPr>
          <p:nvPr>
            <p:ph idx="1"/>
          </p:nvPr>
        </p:nvSpPr>
        <p:spPr/>
        <p:txBody>
          <a:bodyPr vert="horz" lIns="91440" tIns="45720" rIns="91440" bIns="45720" rtlCol="0" anchor="t">
            <a:normAutofit/>
          </a:bodyPr>
          <a:lstStyle/>
          <a:p>
            <a:pPr marL="342900" indent="-342900">
              <a:buAutoNum type="arabicPeriod"/>
            </a:pPr>
            <a:r>
              <a:rPr lang="en-US" dirty="0">
                <a:latin typeface="Times New Roman"/>
                <a:cs typeface="Times New Roman"/>
              </a:rPr>
              <a:t>EXECUTIVE SUMMARY</a:t>
            </a:r>
          </a:p>
          <a:p>
            <a:pPr marL="342900" indent="-342900">
              <a:buAutoNum type="arabicPeriod"/>
            </a:pPr>
            <a:r>
              <a:rPr lang="en-US" dirty="0">
                <a:latin typeface="Times New Roman"/>
                <a:cs typeface="Times New Roman"/>
              </a:rPr>
              <a:t>APPROACH</a:t>
            </a:r>
          </a:p>
          <a:p>
            <a:pPr marL="342900" indent="-342900">
              <a:buAutoNum type="arabicPeriod"/>
            </a:pPr>
            <a:r>
              <a:rPr lang="en-US" dirty="0">
                <a:latin typeface="Times New Roman"/>
                <a:cs typeface="Times New Roman"/>
              </a:rPr>
              <a:t>ANALYSIS</a:t>
            </a:r>
          </a:p>
          <a:p>
            <a:pPr marL="342900" indent="-342900">
              <a:buAutoNum type="arabicPeriod"/>
            </a:pPr>
            <a:r>
              <a:rPr lang="en-US" dirty="0">
                <a:latin typeface="Times New Roman"/>
                <a:cs typeface="Times New Roman"/>
              </a:rPr>
              <a:t>STRATEGY AND ACTION PLANNING</a:t>
            </a:r>
          </a:p>
        </p:txBody>
      </p:sp>
    </p:spTree>
    <p:extLst>
      <p:ext uri="{BB962C8B-B14F-4D97-AF65-F5344CB8AC3E}">
        <p14:creationId xmlns:p14="http://schemas.microsoft.com/office/powerpoint/2010/main" val="864158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11">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Pen placed on top of a signature line">
            <a:extLst>
              <a:ext uri="{FF2B5EF4-FFF2-40B4-BE49-F238E27FC236}">
                <a16:creationId xmlns:a16="http://schemas.microsoft.com/office/drawing/2014/main" id="{B1F42B93-C935-5261-C86C-C422A4D8C19C}"/>
              </a:ext>
            </a:extLst>
          </p:cNvPr>
          <p:cNvPicPr>
            <a:picLocks noChangeAspect="1"/>
          </p:cNvPicPr>
          <p:nvPr/>
        </p:nvPicPr>
        <p:blipFill>
          <a:blip r:embed="rId2"/>
          <a:srcRect l="9092" t="1781" r="-7" b="21491"/>
          <a:stretch>
            <a:fillRect/>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D704FE2A-7D7C-95BE-7BFF-FD4F71CE7C0D}"/>
              </a:ext>
            </a:extLst>
          </p:cNvPr>
          <p:cNvSpPr>
            <a:spLocks noGrp="1"/>
          </p:cNvSpPr>
          <p:nvPr>
            <p:ph type="title"/>
          </p:nvPr>
        </p:nvSpPr>
        <p:spPr>
          <a:xfrm>
            <a:off x="320039" y="5731580"/>
            <a:ext cx="8196431" cy="960120"/>
          </a:xfrm>
          <a:ln>
            <a:noFill/>
          </a:ln>
        </p:spPr>
        <p:txBody>
          <a:bodyPr vert="horz" lIns="91440" tIns="45720" rIns="91440" bIns="45720" rtlCol="0" anchor="ctr">
            <a:normAutofit/>
          </a:bodyPr>
          <a:lstStyle/>
          <a:p>
            <a:r>
              <a:rPr lang="en-US" dirty="0">
                <a:latin typeface="Times New Roman"/>
                <a:cs typeface="Times New Roman"/>
              </a:rPr>
              <a:t>EXECUTIVE SUMMARY</a:t>
            </a:r>
          </a:p>
        </p:txBody>
      </p:sp>
    </p:spTree>
    <p:extLst>
      <p:ext uri="{BB962C8B-B14F-4D97-AF65-F5344CB8AC3E}">
        <p14:creationId xmlns:p14="http://schemas.microsoft.com/office/powerpoint/2010/main" val="1976877569"/>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D1E2-983F-A48E-238B-3733C0D9AE01}"/>
              </a:ext>
            </a:extLst>
          </p:cNvPr>
          <p:cNvSpPr>
            <a:spLocks noGrp="1"/>
          </p:cNvSpPr>
          <p:nvPr>
            <p:ph type="title"/>
          </p:nvPr>
        </p:nvSpPr>
        <p:spPr/>
        <p:txBody>
          <a:bodyPr/>
          <a:lstStyle/>
          <a:p>
            <a:r>
              <a:rPr lang="en-US" dirty="0">
                <a:latin typeface="Times New Roman"/>
                <a:cs typeface="Times New Roman"/>
              </a:rPr>
              <a:t>BRIGHT MOTORS SUMMARY</a:t>
            </a:r>
          </a:p>
        </p:txBody>
      </p:sp>
      <p:sp>
        <p:nvSpPr>
          <p:cNvPr id="3" name="Content Placeholder 2">
            <a:extLst>
              <a:ext uri="{FF2B5EF4-FFF2-40B4-BE49-F238E27FC236}">
                <a16:creationId xmlns:a16="http://schemas.microsoft.com/office/drawing/2014/main" id="{C521E88D-A82F-B432-400F-4C4442E372D4}"/>
              </a:ext>
            </a:extLst>
          </p:cNvPr>
          <p:cNvSpPr>
            <a:spLocks noGrp="1"/>
          </p:cNvSpPr>
          <p:nvPr>
            <p:ph idx="1"/>
          </p:nvPr>
        </p:nvSpPr>
        <p:spPr>
          <a:xfrm>
            <a:off x="521208" y="1816608"/>
            <a:ext cx="11155680" cy="4589804"/>
          </a:xfrm>
        </p:spPr>
        <p:txBody>
          <a:bodyPr vert="horz" lIns="91440" tIns="45720" rIns="91440" bIns="45720" rtlCol="0" anchor="t">
            <a:normAutofit fontScale="92500" lnSpcReduction="10000"/>
          </a:bodyPr>
          <a:lstStyle/>
          <a:p>
            <a:r>
              <a:rPr lang="en-US" dirty="0">
                <a:latin typeface="Times New Roman"/>
                <a:cs typeface="Times New Roman"/>
              </a:rPr>
              <a:t>Maserati and Oldsmobile, followed by Germany's Volkswagen are top sellers in the U.S automobile market, accounting for 18.03%, 18.03% and 12.77% respectively (1995-2015).</a:t>
            </a:r>
          </a:p>
          <a:p>
            <a:r>
              <a:rPr lang="en-US" dirty="0">
                <a:latin typeface="Times New Roman"/>
                <a:cs typeface="Times New Roman"/>
              </a:rPr>
              <a:t>The F-150 , Fusion and Altima are top selling models (Top 20, 1982-2015).</a:t>
            </a:r>
          </a:p>
          <a:p>
            <a:r>
              <a:rPr lang="en-US" dirty="0">
                <a:latin typeface="Times New Roman"/>
                <a:cs typeface="Times New Roman"/>
              </a:rPr>
              <a:t>Average Sale Prices have increased over time. Increased costs of production as driven by demand have contributed to this phenomenon.</a:t>
            </a:r>
          </a:p>
          <a:p>
            <a:r>
              <a:rPr lang="en-US" dirty="0">
                <a:latin typeface="Times New Roman"/>
                <a:cs typeface="Times New Roman"/>
              </a:rPr>
              <a:t>Average Mileage lies above Average Selling Prices over time – buyers seem indifferent to car mileage and are buying used/old cars, perhaps due to costly brand new cars.</a:t>
            </a:r>
          </a:p>
          <a:p>
            <a:r>
              <a:rPr lang="en-US" dirty="0">
                <a:latin typeface="Times New Roman"/>
                <a:cs typeface="Times New Roman"/>
              </a:rPr>
              <a:t>Budget cars (priced &lt;$25K) account for 85.79% of total cars sold/bought. Luxury vehicles are the least purchased cars.</a:t>
            </a:r>
          </a:p>
          <a:p>
            <a:r>
              <a:rPr lang="en-US" dirty="0">
                <a:latin typeface="Times New Roman"/>
                <a:cs typeface="Times New Roman"/>
              </a:rPr>
              <a:t>Dealerships ought to focus on transparency - provide clear, upfront communication on all pricing, financing options, and fees. This builds trust, which is the foundation of brand loyalty and repeat business to  improve profitability and efficiency. Imperative, is the rapid implementation of  a Seamless Omnichannel Experience, thus  harmonizing online and in-store processes. This allows customers to complete steps like vehicle research, trade-in valuations, credit applications, and even price negotiation online. This speeds up the in-store process, reducing the time customers spend at the dealership—a major source of dissatisfaction.</a:t>
            </a:r>
          </a:p>
          <a:p>
            <a:endParaRPr lang="en-US" dirty="0">
              <a:latin typeface="Times New Roman"/>
              <a:cs typeface="Times New Roman"/>
            </a:endParaRPr>
          </a:p>
          <a:p>
            <a:endParaRPr lang="en-US" dirty="0">
              <a:latin typeface="Times New Roman"/>
              <a:cs typeface="Times New Roman"/>
            </a:endParaRPr>
          </a:p>
          <a:p>
            <a:endParaRPr lang="en-US" dirty="0">
              <a:latin typeface="Times New Roman"/>
              <a:cs typeface="Times New Roman"/>
            </a:endParaRPr>
          </a:p>
          <a:p>
            <a:endParaRPr lang="en-US" dirty="0">
              <a:latin typeface="Times New Roman"/>
              <a:cs typeface="Times New Roman"/>
            </a:endParaRPr>
          </a:p>
          <a:p>
            <a:endParaRPr lang="en-US" dirty="0"/>
          </a:p>
          <a:p>
            <a:endParaRPr lang="en-US" dirty="0"/>
          </a:p>
        </p:txBody>
      </p:sp>
    </p:spTree>
    <p:extLst>
      <p:ext uri="{BB962C8B-B14F-4D97-AF65-F5344CB8AC3E}">
        <p14:creationId xmlns:p14="http://schemas.microsoft.com/office/powerpoint/2010/main" val="943922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Graph on document with pen">
            <a:extLst>
              <a:ext uri="{FF2B5EF4-FFF2-40B4-BE49-F238E27FC236}">
                <a16:creationId xmlns:a16="http://schemas.microsoft.com/office/drawing/2014/main" id="{1F7FDB32-B68D-2AB0-F901-B92815908074}"/>
              </a:ext>
            </a:extLst>
          </p:cNvPr>
          <p:cNvPicPr>
            <a:picLocks noChangeAspect="1"/>
          </p:cNvPicPr>
          <p:nvPr/>
        </p:nvPicPr>
        <p:blipFill>
          <a:blip r:embed="rId2"/>
          <a:srcRect t="973" r="6" b="14616"/>
          <a:stretch>
            <a:fillRect/>
          </a:stretch>
        </p:blipFill>
        <p:spPr>
          <a:xfrm>
            <a:off x="20" y="10"/>
            <a:ext cx="12188932" cy="6857990"/>
          </a:xfrm>
          <a:prstGeom prst="rect">
            <a:avLst/>
          </a:prstGeom>
        </p:spPr>
      </p:pic>
      <p:sp>
        <p:nvSpPr>
          <p:cNvPr id="14" name="Rectangle 13">
            <a:extLst>
              <a:ext uri="{FF2B5EF4-FFF2-40B4-BE49-F238E27FC236}">
                <a16:creationId xmlns:a16="http://schemas.microsoft.com/office/drawing/2014/main" id="{67B3E2DB-180D-4752-BBB6-987822D6BC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944761"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2B5EFD-43B7-1660-5CBF-7B343DAE2E19}"/>
              </a:ext>
            </a:extLst>
          </p:cNvPr>
          <p:cNvSpPr>
            <a:spLocks noGrp="1"/>
          </p:cNvSpPr>
          <p:nvPr>
            <p:ph type="title"/>
          </p:nvPr>
        </p:nvSpPr>
        <p:spPr>
          <a:xfrm>
            <a:off x="5555052" y="971396"/>
            <a:ext cx="5870184" cy="2859533"/>
          </a:xfrm>
        </p:spPr>
        <p:txBody>
          <a:bodyPr vert="horz" lIns="91440" tIns="45720" rIns="91440" bIns="45720" rtlCol="0" anchor="t">
            <a:normAutofit/>
          </a:bodyPr>
          <a:lstStyle/>
          <a:p>
            <a:r>
              <a:rPr lang="en-US" sz="6000" dirty="0">
                <a:solidFill>
                  <a:srgbClr val="FFFFFF"/>
                </a:solidFill>
                <a:latin typeface="Times New Roman"/>
                <a:cs typeface="Times New Roman"/>
              </a:rPr>
              <a:t>REVENUE ANALYSIS</a:t>
            </a:r>
          </a:p>
        </p:txBody>
      </p:sp>
      <p:sp>
        <p:nvSpPr>
          <p:cNvPr id="16" name="Rectangle 15">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59321" y="508090"/>
            <a:ext cx="6114810"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5845706"/>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C30AB2D3-E175-48A2-A916-CEC073CF65BD}"/>
              </a:ext>
            </a:extLst>
          </p:cNvPr>
          <p:cNvGraphicFramePr>
            <a:graphicFrameLocks/>
          </p:cNvGraphicFramePr>
          <p:nvPr>
            <p:extLst>
              <p:ext uri="{D42A27DB-BD31-4B8C-83A1-F6EECF244321}">
                <p14:modId xmlns:p14="http://schemas.microsoft.com/office/powerpoint/2010/main" val="228850066"/>
              </p:ext>
            </p:extLst>
          </p:nvPr>
        </p:nvGraphicFramePr>
        <p:xfrm>
          <a:off x="-5019" y="4771"/>
          <a:ext cx="6408761" cy="429563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F5FA3396-EC57-BDBE-8666-4483B4E97D76}"/>
              </a:ext>
            </a:extLst>
          </p:cNvPr>
          <p:cNvGraphicFramePr>
            <a:graphicFrameLocks/>
          </p:cNvGraphicFramePr>
          <p:nvPr>
            <p:extLst>
              <p:ext uri="{D42A27DB-BD31-4B8C-83A1-F6EECF244321}">
                <p14:modId xmlns:p14="http://schemas.microsoft.com/office/powerpoint/2010/main" val="172441871"/>
              </p:ext>
            </p:extLst>
          </p:nvPr>
        </p:nvGraphicFramePr>
        <p:xfrm>
          <a:off x="6103529" y="1903"/>
          <a:ext cx="6084661" cy="4643058"/>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4C609DBA-4DEA-4BE4-64A3-3E4B1DB29161}"/>
              </a:ext>
            </a:extLst>
          </p:cNvPr>
          <p:cNvSpPr txBox="1"/>
          <p:nvPr/>
        </p:nvSpPr>
        <p:spPr>
          <a:xfrm>
            <a:off x="211561" y="5198372"/>
            <a:ext cx="11512247" cy="1477328"/>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latin typeface="Times New Roman"/>
                <a:cs typeface="Times New Roman"/>
              </a:rPr>
              <a:t>Key Insights</a:t>
            </a:r>
            <a:endParaRPr lang="en-US" b="1">
              <a:latin typeface="Times New Roman"/>
              <a:cs typeface="Times New Roman"/>
            </a:endParaRPr>
          </a:p>
          <a:p>
            <a:pPr marL="285750" indent="-285750">
              <a:buFont typeface="Arial"/>
              <a:buChar char="•"/>
            </a:pPr>
            <a:r>
              <a:rPr lang="en-US" dirty="0"/>
              <a:t>Maserati and Oldsmobile, followed by Germany's Volkswagen are top sellers in the U.S automobile market, accounting for 18.03%, 18.03% and 12.77% respectively (1995-2015).</a:t>
            </a:r>
          </a:p>
          <a:p>
            <a:pPr marL="285750" indent="-285750">
              <a:buFont typeface="Arial"/>
              <a:buChar char="•"/>
            </a:pPr>
            <a:r>
              <a:rPr lang="en-US" dirty="0"/>
              <a:t>The F-150 , Fusion and Altima are top selling models (Top 20, 1982-2015).</a:t>
            </a:r>
          </a:p>
          <a:p>
            <a:pPr marL="285750" indent="-285750">
              <a:buFont typeface="Arial"/>
              <a:buChar char="•"/>
            </a:pPr>
            <a:endParaRPr lang="en-US" dirty="0"/>
          </a:p>
        </p:txBody>
      </p:sp>
    </p:spTree>
    <p:extLst>
      <p:ext uri="{BB962C8B-B14F-4D97-AF65-F5344CB8AC3E}">
        <p14:creationId xmlns:p14="http://schemas.microsoft.com/office/powerpoint/2010/main" val="955346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7AD189-BEFC-4BB4-CD88-BE8D0124A2A1}"/>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92F5A1C1-BE49-65CB-11DE-5C054481FF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90D34997-8390-5776-4424-76E65C3B76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A9DCE437-862D-23C4-C848-DB4D77E9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Graph on document with pen">
            <a:extLst>
              <a:ext uri="{FF2B5EF4-FFF2-40B4-BE49-F238E27FC236}">
                <a16:creationId xmlns:a16="http://schemas.microsoft.com/office/drawing/2014/main" id="{8B0CCB89-C649-F30C-2D1F-D6D20F520FAE}"/>
              </a:ext>
            </a:extLst>
          </p:cNvPr>
          <p:cNvPicPr>
            <a:picLocks noChangeAspect="1"/>
          </p:cNvPicPr>
          <p:nvPr/>
        </p:nvPicPr>
        <p:blipFill>
          <a:blip r:embed="rId2"/>
          <a:srcRect t="973" r="6" b="14616"/>
          <a:stretch>
            <a:fillRect/>
          </a:stretch>
        </p:blipFill>
        <p:spPr>
          <a:xfrm>
            <a:off x="20" y="10"/>
            <a:ext cx="12188932" cy="6857990"/>
          </a:xfrm>
          <a:prstGeom prst="rect">
            <a:avLst/>
          </a:prstGeom>
        </p:spPr>
      </p:pic>
      <p:sp>
        <p:nvSpPr>
          <p:cNvPr id="14" name="Rectangle 13">
            <a:extLst>
              <a:ext uri="{FF2B5EF4-FFF2-40B4-BE49-F238E27FC236}">
                <a16:creationId xmlns:a16="http://schemas.microsoft.com/office/drawing/2014/main" id="{2871D373-52EC-12A6-9451-ACBCAA10D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944761"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997FB9-67F2-C455-061A-88F231FE0172}"/>
              </a:ext>
            </a:extLst>
          </p:cNvPr>
          <p:cNvSpPr>
            <a:spLocks noGrp="1"/>
          </p:cNvSpPr>
          <p:nvPr>
            <p:ph type="title"/>
          </p:nvPr>
        </p:nvSpPr>
        <p:spPr>
          <a:xfrm>
            <a:off x="5555052" y="971396"/>
            <a:ext cx="5870184" cy="2859533"/>
          </a:xfrm>
        </p:spPr>
        <p:txBody>
          <a:bodyPr vert="horz" lIns="91440" tIns="45720" rIns="91440" bIns="45720" rtlCol="0" anchor="t">
            <a:normAutofit/>
          </a:bodyPr>
          <a:lstStyle/>
          <a:p>
            <a:r>
              <a:rPr lang="en-US" sz="6000" dirty="0">
                <a:solidFill>
                  <a:srgbClr val="FFFFFF"/>
                </a:solidFill>
                <a:latin typeface="Times New Roman"/>
                <a:cs typeface="Times New Roman"/>
              </a:rPr>
              <a:t>PRICE AND MILEAGE </a:t>
            </a:r>
            <a:br>
              <a:rPr lang="en-US" sz="6000" dirty="0">
                <a:solidFill>
                  <a:srgbClr val="FFFFFF"/>
                </a:solidFill>
                <a:latin typeface="Times New Roman"/>
                <a:cs typeface="Times New Roman"/>
              </a:rPr>
            </a:br>
            <a:r>
              <a:rPr lang="en-US" sz="6000" dirty="0">
                <a:solidFill>
                  <a:srgbClr val="FFFFFF"/>
                </a:solidFill>
                <a:latin typeface="Times New Roman"/>
                <a:cs typeface="Times New Roman"/>
              </a:rPr>
              <a:t>ANALYSIS</a:t>
            </a:r>
          </a:p>
        </p:txBody>
      </p:sp>
      <p:sp>
        <p:nvSpPr>
          <p:cNvPr id="16" name="Rectangle 15">
            <a:extLst>
              <a:ext uri="{FF2B5EF4-FFF2-40B4-BE49-F238E27FC236}">
                <a16:creationId xmlns:a16="http://schemas.microsoft.com/office/drawing/2014/main" id="{23893083-7EBD-05FD-538B-F4060011EA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59321" y="508090"/>
            <a:ext cx="6114810"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0614931"/>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58209B0-3512-1F8F-9BE3-62910B8DFF44}"/>
              </a:ext>
            </a:extLst>
          </p:cNvPr>
          <p:cNvSpPr txBox="1"/>
          <p:nvPr/>
        </p:nvSpPr>
        <p:spPr>
          <a:xfrm>
            <a:off x="212256" y="4261456"/>
            <a:ext cx="11338110" cy="1754326"/>
          </a:xfrm>
          <a:prstGeom prst="rect">
            <a:avLst/>
          </a:prstGeom>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latin typeface="Times New Roman"/>
                <a:cs typeface="Times New Roman"/>
              </a:rPr>
              <a:t>Key Insights</a:t>
            </a:r>
          </a:p>
          <a:p>
            <a:pPr marL="285750" indent="-285750">
              <a:buFont typeface="Arial"/>
              <a:buChar char="•"/>
            </a:pPr>
            <a:r>
              <a:rPr lang="en-US" dirty="0">
                <a:latin typeface="Times New Roman"/>
                <a:cs typeface="Times New Roman"/>
              </a:rPr>
              <a:t>Average Sale Prices have increased over time. Increased costs of production as driven by demand have contributed to this phenomenon.</a:t>
            </a:r>
          </a:p>
          <a:p>
            <a:pPr marL="285750" indent="-285750">
              <a:buFont typeface="Arial"/>
              <a:buChar char="•"/>
            </a:pPr>
            <a:r>
              <a:rPr lang="en-US" dirty="0">
                <a:latin typeface="Times New Roman"/>
                <a:cs typeface="Times New Roman"/>
              </a:rPr>
              <a:t>Average Mileage lies above Average Selling Prices over time – buyers seem indifferent to car mileage and are buying used/old cars, perhaps due to costly brand new cars.</a:t>
            </a:r>
          </a:p>
          <a:p>
            <a:pPr marL="285750" indent="-285750">
              <a:buFont typeface="Arial"/>
              <a:buChar char="•"/>
            </a:pPr>
            <a:r>
              <a:rPr lang="en-US" dirty="0">
                <a:latin typeface="Times New Roman"/>
                <a:cs typeface="Times New Roman"/>
              </a:rPr>
              <a:t>Cars with higher mileage cost less while low mileage cars sell at higher prices.</a:t>
            </a:r>
          </a:p>
        </p:txBody>
      </p:sp>
      <p:graphicFrame>
        <p:nvGraphicFramePr>
          <p:cNvPr id="8" name="Chart 7">
            <a:extLst>
              <a:ext uri="{FF2B5EF4-FFF2-40B4-BE49-F238E27FC236}">
                <a16:creationId xmlns:a16="http://schemas.microsoft.com/office/drawing/2014/main" id="{C414A699-9969-4EAE-87AC-F51589378833}"/>
              </a:ext>
              <a:ext uri="{147F2762-F138-4A5C-976F-8EAC2B608ADB}">
                <a16:predDERef xmlns:a16="http://schemas.microsoft.com/office/drawing/2014/main" pred="{93C27981-2767-4CCF-B543-1D4FF0DF2332}"/>
              </a:ext>
            </a:extLst>
          </p:cNvPr>
          <p:cNvGraphicFramePr>
            <a:graphicFrameLocks/>
          </p:cNvGraphicFramePr>
          <p:nvPr>
            <p:extLst>
              <p:ext uri="{D42A27DB-BD31-4B8C-83A1-F6EECF244321}">
                <p14:modId xmlns:p14="http://schemas.microsoft.com/office/powerpoint/2010/main" val="831616653"/>
              </p:ext>
            </p:extLst>
          </p:nvPr>
        </p:nvGraphicFramePr>
        <p:xfrm>
          <a:off x="337578" y="344581"/>
          <a:ext cx="11509001" cy="368449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03904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1FFDEE-FB52-4E11-56B4-1476FCD30225}"/>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8BBA1CB2-A169-2F20-C69B-39BCAE42C5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64603C9E-B9ED-E0C8-4FD9-2482C431D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B75984F5-0F97-A49B-386D-5CCA1830E9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Graph on document with pen">
            <a:extLst>
              <a:ext uri="{FF2B5EF4-FFF2-40B4-BE49-F238E27FC236}">
                <a16:creationId xmlns:a16="http://schemas.microsoft.com/office/drawing/2014/main" id="{90AC7FFA-B61D-3DBB-90E3-86FD99E96782}"/>
              </a:ext>
            </a:extLst>
          </p:cNvPr>
          <p:cNvPicPr>
            <a:picLocks noChangeAspect="1"/>
          </p:cNvPicPr>
          <p:nvPr/>
        </p:nvPicPr>
        <p:blipFill>
          <a:blip r:embed="rId2"/>
          <a:srcRect t="973" r="6" b="14616"/>
          <a:stretch>
            <a:fillRect/>
          </a:stretch>
        </p:blipFill>
        <p:spPr>
          <a:xfrm>
            <a:off x="20" y="10"/>
            <a:ext cx="12188932" cy="6857990"/>
          </a:xfrm>
          <a:prstGeom prst="rect">
            <a:avLst/>
          </a:prstGeom>
        </p:spPr>
      </p:pic>
      <p:sp>
        <p:nvSpPr>
          <p:cNvPr id="14" name="Rectangle 13">
            <a:extLst>
              <a:ext uri="{FF2B5EF4-FFF2-40B4-BE49-F238E27FC236}">
                <a16:creationId xmlns:a16="http://schemas.microsoft.com/office/drawing/2014/main" id="{8E10D828-1CD9-9A47-7919-46C882F584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944761"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9B8CA1-4358-4611-B5D7-31C48B2E4EEE}"/>
              </a:ext>
            </a:extLst>
          </p:cNvPr>
          <p:cNvSpPr>
            <a:spLocks noGrp="1"/>
          </p:cNvSpPr>
          <p:nvPr>
            <p:ph type="title"/>
          </p:nvPr>
        </p:nvSpPr>
        <p:spPr>
          <a:xfrm>
            <a:off x="5555052" y="971396"/>
            <a:ext cx="5870184" cy="2859533"/>
          </a:xfrm>
        </p:spPr>
        <p:txBody>
          <a:bodyPr vert="horz" lIns="91440" tIns="45720" rIns="91440" bIns="45720" rtlCol="0" anchor="t">
            <a:normAutofit/>
          </a:bodyPr>
          <a:lstStyle/>
          <a:p>
            <a:r>
              <a:rPr lang="en-US" sz="6000" dirty="0">
                <a:solidFill>
                  <a:srgbClr val="FFFFFF"/>
                </a:solidFill>
                <a:latin typeface="Times New Roman"/>
                <a:cs typeface="Times New Roman"/>
              </a:rPr>
              <a:t>CAR SALES REVENUE BY STATE</a:t>
            </a:r>
            <a:endParaRPr lang="en-US" dirty="0"/>
          </a:p>
        </p:txBody>
      </p:sp>
      <p:sp>
        <p:nvSpPr>
          <p:cNvPr id="16" name="Rectangle 15">
            <a:extLst>
              <a:ext uri="{FF2B5EF4-FFF2-40B4-BE49-F238E27FC236}">
                <a16:creationId xmlns:a16="http://schemas.microsoft.com/office/drawing/2014/main" id="{ED788EF3-6C38-5DF7-B9D0-84F8B2A6F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59321" y="508090"/>
            <a:ext cx="6114810"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0824138"/>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85805F12-6C50-74BB-C56B-7970D5D9D04C}"/>
              </a:ext>
            </a:extLst>
          </p:cNvPr>
          <p:cNvGraphicFramePr>
            <a:graphicFrameLocks/>
          </p:cNvGraphicFramePr>
          <p:nvPr>
            <p:extLst>
              <p:ext uri="{D42A27DB-BD31-4B8C-83A1-F6EECF244321}">
                <p14:modId xmlns:p14="http://schemas.microsoft.com/office/powerpoint/2010/main" val="1432718754"/>
              </p:ext>
            </p:extLst>
          </p:nvPr>
        </p:nvGraphicFramePr>
        <p:xfrm>
          <a:off x="97328" y="-6622"/>
          <a:ext cx="12000379" cy="4125261"/>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04D8E2C5-DE9D-A172-1D35-7797D8EBACCC}"/>
              </a:ext>
            </a:extLst>
          </p:cNvPr>
          <p:cNvSpPr txBox="1"/>
          <p:nvPr/>
        </p:nvSpPr>
        <p:spPr>
          <a:xfrm>
            <a:off x="93736" y="4562236"/>
            <a:ext cx="11999423" cy="1754326"/>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latin typeface="Times New Roman"/>
                <a:cs typeface="Arial"/>
              </a:rPr>
              <a:t>Key Insights</a:t>
            </a:r>
          </a:p>
          <a:p>
            <a:pPr marL="285750" indent="-285750">
              <a:buFont typeface="Arial,Sans-Serif"/>
              <a:buChar char="•"/>
            </a:pPr>
            <a:endParaRPr lang="en-US">
              <a:latin typeface="Arial"/>
              <a:ea typeface="Arial"/>
              <a:cs typeface="Arial"/>
            </a:endParaRPr>
          </a:p>
          <a:p>
            <a:pPr marL="285750" indent="-285750">
              <a:buFont typeface="Arial,Sans-Serif"/>
              <a:buChar char="•"/>
            </a:pPr>
            <a:r>
              <a:rPr lang="en-US" sz="1800" baseline="0" dirty="0">
                <a:latin typeface="Times New Roman"/>
                <a:ea typeface="Arial"/>
                <a:cs typeface="Arial"/>
              </a:rPr>
              <a:t>Florida is our best-selling state – with a staggering record of 82 841 (14.84%) of sales for the period, 1982-2015,followed </a:t>
            </a:r>
            <a:r>
              <a:rPr lang="en-US" dirty="0">
                <a:latin typeface="Times New Roman"/>
                <a:ea typeface="Arial"/>
                <a:cs typeface="Arial"/>
              </a:rPr>
              <a:t>by California</a:t>
            </a:r>
            <a:r>
              <a:rPr lang="en-US" sz="1800" baseline="0" dirty="0">
                <a:latin typeface="Times New Roman"/>
                <a:ea typeface="Arial"/>
                <a:cs typeface="Arial"/>
              </a:rPr>
              <a:t> at 73068 (13.09%).</a:t>
            </a:r>
            <a:r>
              <a:rPr lang="en-US" sz="1800" dirty="0">
                <a:latin typeface="Times New Roman"/>
                <a:ea typeface="Arial"/>
                <a:cs typeface="Arial"/>
              </a:rPr>
              <a:t>​</a:t>
            </a:r>
          </a:p>
          <a:p>
            <a:pPr marL="285750" lvl="0" indent="-285750" rtl="0">
              <a:buFont typeface="Arial,Sans-Serif"/>
              <a:buChar char="•"/>
            </a:pPr>
            <a:r>
              <a:rPr lang="en-US" sz="1800" baseline="0" dirty="0">
                <a:latin typeface="Times New Roman"/>
                <a:ea typeface="Arial"/>
                <a:cs typeface="Arial"/>
              </a:rPr>
              <a:t>Florida as a tourist destination area, commands a unique demographic landscape.</a:t>
            </a:r>
            <a:r>
              <a:rPr lang="en-US" sz="1800" dirty="0">
                <a:latin typeface="Times New Roman"/>
                <a:ea typeface="Arial"/>
                <a:cs typeface="Arial"/>
              </a:rPr>
              <a:t>​</a:t>
            </a:r>
          </a:p>
          <a:p>
            <a:pPr marL="285750" lvl="0" indent="-285750" rtl="0">
              <a:buFont typeface="Arial,Sans-Serif"/>
              <a:buChar char="•"/>
            </a:pPr>
            <a:r>
              <a:rPr lang="en-US" sz="1800" baseline="0" dirty="0">
                <a:latin typeface="Times New Roman"/>
                <a:ea typeface="Arial"/>
                <a:cs typeface="Arial"/>
              </a:rPr>
              <a:t>High sales are </a:t>
            </a:r>
            <a:r>
              <a:rPr lang="en-US" sz="1800" baseline="0" dirty="0" err="1">
                <a:latin typeface="Times New Roman"/>
                <a:ea typeface="Arial"/>
                <a:cs typeface="Arial"/>
              </a:rPr>
              <a:t>own</a:t>
            </a:r>
            <a:r>
              <a:rPr lang="en-US" sz="1800" baseline="0" dirty="0">
                <a:latin typeface="Times New Roman"/>
                <a:ea typeface="Arial"/>
                <a:cs typeface="Arial"/>
              </a:rPr>
              <a:t> to rise in rental car demands and purchases.</a:t>
            </a:r>
            <a:r>
              <a:rPr lang="en-US" sz="1800" dirty="0">
                <a:latin typeface="Times New Roman"/>
                <a:ea typeface="Arial"/>
                <a:cs typeface="Arial"/>
              </a:rPr>
              <a:t>​</a:t>
            </a:r>
          </a:p>
        </p:txBody>
      </p:sp>
    </p:spTree>
    <p:extLst>
      <p:ext uri="{BB962C8B-B14F-4D97-AF65-F5344CB8AC3E}">
        <p14:creationId xmlns:p14="http://schemas.microsoft.com/office/powerpoint/2010/main" val="76485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A768B1-BAFE-2A9D-966D-7C5953FB68D0}"/>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3AC838B7-67AD-214F-1DE1-DF0FD5D37F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F039D8F1-2967-3479-2A57-676B4B978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CA8BD112-C219-AC1F-3F6D-F894451F3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Graph on document with pen">
            <a:extLst>
              <a:ext uri="{FF2B5EF4-FFF2-40B4-BE49-F238E27FC236}">
                <a16:creationId xmlns:a16="http://schemas.microsoft.com/office/drawing/2014/main" id="{13BD729D-D593-C39B-F9DE-85494CC33146}"/>
              </a:ext>
            </a:extLst>
          </p:cNvPr>
          <p:cNvPicPr>
            <a:picLocks noChangeAspect="1"/>
          </p:cNvPicPr>
          <p:nvPr/>
        </p:nvPicPr>
        <p:blipFill>
          <a:blip r:embed="rId2"/>
          <a:srcRect t="973" r="6" b="14616"/>
          <a:stretch>
            <a:fillRect/>
          </a:stretch>
        </p:blipFill>
        <p:spPr>
          <a:xfrm>
            <a:off x="20" y="10"/>
            <a:ext cx="12188932" cy="6857990"/>
          </a:xfrm>
          <a:prstGeom prst="rect">
            <a:avLst/>
          </a:prstGeom>
        </p:spPr>
      </p:pic>
      <p:sp>
        <p:nvSpPr>
          <p:cNvPr id="14" name="Rectangle 13">
            <a:extLst>
              <a:ext uri="{FF2B5EF4-FFF2-40B4-BE49-F238E27FC236}">
                <a16:creationId xmlns:a16="http://schemas.microsoft.com/office/drawing/2014/main" id="{40FD3370-A6E5-B2C2-0FE2-1D4981EBE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944761"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E94531-FF15-C1A7-F132-9FE147B8014B}"/>
              </a:ext>
            </a:extLst>
          </p:cNvPr>
          <p:cNvSpPr>
            <a:spLocks noGrp="1"/>
          </p:cNvSpPr>
          <p:nvPr>
            <p:ph type="title"/>
          </p:nvPr>
        </p:nvSpPr>
        <p:spPr>
          <a:xfrm>
            <a:off x="5555052" y="971396"/>
            <a:ext cx="5870184" cy="2859533"/>
          </a:xfrm>
        </p:spPr>
        <p:txBody>
          <a:bodyPr vert="horz" lIns="91440" tIns="45720" rIns="91440" bIns="45720" rtlCol="0" anchor="t">
            <a:normAutofit/>
          </a:bodyPr>
          <a:lstStyle/>
          <a:p>
            <a:r>
              <a:rPr lang="en-US" sz="6000" dirty="0">
                <a:solidFill>
                  <a:srgbClr val="FFFFFF"/>
                </a:solidFill>
                <a:latin typeface="Times New Roman"/>
                <a:cs typeface="Times New Roman"/>
              </a:rPr>
              <a:t>TREND ANALYSIS</a:t>
            </a:r>
            <a:endParaRPr lang="en-US" dirty="0"/>
          </a:p>
        </p:txBody>
      </p:sp>
      <p:sp>
        <p:nvSpPr>
          <p:cNvPr id="16" name="Rectangle 15">
            <a:extLst>
              <a:ext uri="{FF2B5EF4-FFF2-40B4-BE49-F238E27FC236}">
                <a16:creationId xmlns:a16="http://schemas.microsoft.com/office/drawing/2014/main" id="{A2619F34-9DF4-6EDD-19D6-B4DE3F989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59321" y="508090"/>
            <a:ext cx="6114810"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000483"/>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1040624D-3AC7-6E9B-EB14-E2B659B1FBCE}"/>
              </a:ext>
            </a:extLst>
          </p:cNvPr>
          <p:cNvGraphicFramePr>
            <a:graphicFrameLocks/>
          </p:cNvGraphicFramePr>
          <p:nvPr>
            <p:extLst>
              <p:ext uri="{D42A27DB-BD31-4B8C-83A1-F6EECF244321}">
                <p14:modId xmlns:p14="http://schemas.microsoft.com/office/powerpoint/2010/main" val="3407012659"/>
              </p:ext>
            </p:extLst>
          </p:nvPr>
        </p:nvGraphicFramePr>
        <p:xfrm>
          <a:off x="6100233" y="261483"/>
          <a:ext cx="6080578" cy="349779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EEA9C9A3-4B97-2642-FAFC-6B06C66E1D2B}"/>
              </a:ext>
            </a:extLst>
          </p:cNvPr>
          <p:cNvGraphicFramePr>
            <a:graphicFrameLocks/>
          </p:cNvGraphicFramePr>
          <p:nvPr>
            <p:extLst>
              <p:ext uri="{D42A27DB-BD31-4B8C-83A1-F6EECF244321}">
                <p14:modId xmlns:p14="http://schemas.microsoft.com/office/powerpoint/2010/main" val="2756396133"/>
              </p:ext>
            </p:extLst>
          </p:nvPr>
        </p:nvGraphicFramePr>
        <p:xfrm>
          <a:off x="280761" y="269875"/>
          <a:ext cx="5539619" cy="3493103"/>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C0D01E7C-2096-A00C-A0FD-456F99772EA1}"/>
              </a:ext>
            </a:extLst>
          </p:cNvPr>
          <p:cNvSpPr txBox="1"/>
          <p:nvPr/>
        </p:nvSpPr>
        <p:spPr>
          <a:xfrm>
            <a:off x="550048" y="4460773"/>
            <a:ext cx="11101009" cy="2031325"/>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latin typeface="Times New Roman"/>
                <a:cs typeface="Times New Roman"/>
              </a:rPr>
              <a:t>Key Insights</a:t>
            </a:r>
          </a:p>
          <a:p>
            <a:pPr marL="285750" indent="-285750">
              <a:buFont typeface="Arial"/>
              <a:buChar char="•"/>
            </a:pPr>
            <a:r>
              <a:rPr lang="en-US" dirty="0">
                <a:latin typeface="Times New Roman"/>
                <a:cs typeface="Times New Roman"/>
              </a:rPr>
              <a:t>Budget cars (priced &lt;$25K) account for 85.79% of total cars sold/bought. With a continuous  increase in fuel prices and car maintenance costs, buyers opt for fuel efficient, affordable cars with low running costs.</a:t>
            </a:r>
          </a:p>
          <a:p>
            <a:pPr marL="285750" indent="-285750">
              <a:buFont typeface="Arial"/>
              <a:buChar char="•"/>
            </a:pPr>
            <a:r>
              <a:rPr lang="en-US" dirty="0">
                <a:latin typeface="Times New Roman"/>
                <a:cs typeface="Times New Roman"/>
              </a:rPr>
              <a:t>Luxury vehicles, the least purchased cars, are a mere 0.16% of total  sales. </a:t>
            </a:r>
          </a:p>
          <a:p>
            <a:pPr marL="285750" indent="-285750">
              <a:buFont typeface="Arial"/>
              <a:buChar char="•"/>
            </a:pPr>
            <a:r>
              <a:rPr lang="en-US" dirty="0">
                <a:latin typeface="Times New Roman"/>
                <a:cs typeface="Times New Roman"/>
              </a:rPr>
              <a:t>About 34 978 (6.3%) of  vehicles are sold at high car mileage while 29 055 (5.2%) had very high mileage (&gt;100K miles)</a:t>
            </a:r>
          </a:p>
          <a:p>
            <a:endParaRPr lang="en-US" dirty="0"/>
          </a:p>
        </p:txBody>
      </p:sp>
    </p:spTree>
    <p:extLst>
      <p:ext uri="{BB962C8B-B14F-4D97-AF65-F5344CB8AC3E}">
        <p14:creationId xmlns:p14="http://schemas.microsoft.com/office/powerpoint/2010/main" val="2462962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B7E2F724-2FB3-4D1D-A730-739B8654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Person holding chess piece">
            <a:extLst>
              <a:ext uri="{FF2B5EF4-FFF2-40B4-BE49-F238E27FC236}">
                <a16:creationId xmlns:a16="http://schemas.microsoft.com/office/drawing/2014/main" id="{EDFB1C16-C0D2-0D54-208D-5265D2CB49D0}"/>
              </a:ext>
            </a:extLst>
          </p:cNvPr>
          <p:cNvPicPr>
            <a:picLocks noChangeAspect="1"/>
          </p:cNvPicPr>
          <p:nvPr/>
        </p:nvPicPr>
        <p:blipFill>
          <a:blip r:embed="rId2">
            <a:alphaModFix amt="40000"/>
          </a:blip>
          <a:srcRect t="25822" r="-2" b="-2"/>
          <a:stretch>
            <a:fillRect/>
          </a:stretch>
        </p:blipFill>
        <p:spPr>
          <a:xfrm>
            <a:off x="-2" y="-2"/>
            <a:ext cx="12192001" cy="6858001"/>
          </a:xfrm>
          <a:prstGeom prst="rect">
            <a:avLst/>
          </a:prstGeom>
        </p:spPr>
      </p:pic>
      <p:sp>
        <p:nvSpPr>
          <p:cNvPr id="2" name="Title 1">
            <a:extLst>
              <a:ext uri="{FF2B5EF4-FFF2-40B4-BE49-F238E27FC236}">
                <a16:creationId xmlns:a16="http://schemas.microsoft.com/office/drawing/2014/main" id="{2A6C9885-B102-F3B5-38E7-D9EFACB2D634}"/>
              </a:ext>
            </a:extLst>
          </p:cNvPr>
          <p:cNvSpPr>
            <a:spLocks noGrp="1"/>
          </p:cNvSpPr>
          <p:nvPr>
            <p:ph type="title"/>
          </p:nvPr>
        </p:nvSpPr>
        <p:spPr>
          <a:xfrm>
            <a:off x="517870" y="978407"/>
            <a:ext cx="5872829" cy="3290107"/>
          </a:xfrm>
        </p:spPr>
        <p:txBody>
          <a:bodyPr vert="horz" lIns="91440" tIns="45720" rIns="91440" bIns="45720" rtlCol="0" anchor="t">
            <a:normAutofit/>
          </a:bodyPr>
          <a:lstStyle/>
          <a:p>
            <a:r>
              <a:rPr lang="en-US" sz="4200">
                <a:solidFill>
                  <a:srgbClr val="FFFFFF"/>
                </a:solidFill>
                <a:latin typeface="Times New Roman"/>
                <a:cs typeface="Times New Roman"/>
              </a:rPr>
              <a:t>STRATEGIC RECOMMENATIONS</a:t>
            </a:r>
          </a:p>
        </p:txBody>
      </p:sp>
      <p:sp>
        <p:nvSpPr>
          <p:cNvPr id="14" name="Rectangle 13">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322077"/>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F2C99-F75D-7DE7-C710-4E68859C2094}"/>
              </a:ext>
            </a:extLst>
          </p:cNvPr>
          <p:cNvSpPr>
            <a:spLocks noGrp="1"/>
          </p:cNvSpPr>
          <p:nvPr>
            <p:ph type="title"/>
          </p:nvPr>
        </p:nvSpPr>
        <p:spPr>
          <a:xfrm>
            <a:off x="521208" y="978408"/>
            <a:ext cx="11167775" cy="1160660"/>
          </a:xfrm>
        </p:spPr>
        <p:txBody>
          <a:bodyPr/>
          <a:lstStyle/>
          <a:p>
            <a:pPr algn="ctr"/>
            <a:r>
              <a:rPr lang="en-US" dirty="0">
                <a:latin typeface="Times New Roman"/>
                <a:cs typeface="Times New Roman"/>
              </a:rPr>
              <a:t>KEY STRATEGIC RECOMMENDATIONS</a:t>
            </a:r>
            <a:endParaRPr lang="en-US">
              <a:latin typeface="Times New Roman"/>
              <a:cs typeface="Times New Roman"/>
            </a:endParaRPr>
          </a:p>
        </p:txBody>
      </p:sp>
      <p:graphicFrame>
        <p:nvGraphicFramePr>
          <p:cNvPr id="10" name="Content Placeholder 2">
            <a:extLst>
              <a:ext uri="{FF2B5EF4-FFF2-40B4-BE49-F238E27FC236}">
                <a16:creationId xmlns:a16="http://schemas.microsoft.com/office/drawing/2014/main" id="{10053808-E957-13AD-9988-60614BE1AC8F}"/>
              </a:ext>
            </a:extLst>
          </p:cNvPr>
          <p:cNvGraphicFramePr>
            <a:graphicFrameLocks noGrp="1"/>
          </p:cNvGraphicFramePr>
          <p:nvPr>
            <p:ph sz="half" idx="1"/>
          </p:nvPr>
        </p:nvGraphicFramePr>
        <p:xfrm>
          <a:off x="521208" y="2578608"/>
          <a:ext cx="5166360" cy="37673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3">
            <a:extLst>
              <a:ext uri="{FF2B5EF4-FFF2-40B4-BE49-F238E27FC236}">
                <a16:creationId xmlns:a16="http://schemas.microsoft.com/office/drawing/2014/main" id="{598EB0B2-732D-D847-2713-AA4CD26EFC1B}"/>
              </a:ext>
            </a:extLst>
          </p:cNvPr>
          <p:cNvSpPr>
            <a:spLocks noGrp="1"/>
          </p:cNvSpPr>
          <p:nvPr>
            <p:ph sz="half" idx="2"/>
          </p:nvPr>
        </p:nvSpPr>
        <p:spPr/>
        <p:txBody>
          <a:bodyPr vert="horz" lIns="91440" tIns="45720" rIns="91440" bIns="45720" rtlCol="0" anchor="t">
            <a:normAutofit fontScale="92500"/>
          </a:bodyPr>
          <a:lstStyle/>
          <a:p>
            <a:pPr marL="0" indent="0" algn="ctr">
              <a:buNone/>
            </a:pPr>
            <a:r>
              <a:rPr lang="en-US" b="1">
                <a:latin typeface="Times New Roman"/>
                <a:ea typeface="+mn-lt"/>
                <a:cs typeface="+mn-lt"/>
              </a:rPr>
              <a:t>Profitability in Used Vehicles &amp; Fixed Operations</a:t>
            </a:r>
          </a:p>
          <a:p>
            <a:r>
              <a:rPr lang="en-US" b="1" dirty="0">
                <a:ea typeface="+mn-lt"/>
                <a:cs typeface="+mn-lt"/>
              </a:rPr>
              <a:t>Maximize Trade-in Profitability:</a:t>
            </a:r>
            <a:r>
              <a:rPr lang="en-US" dirty="0">
                <a:ea typeface="+mn-lt"/>
                <a:cs typeface="+mn-lt"/>
              </a:rPr>
              <a:t> Implement a standardized, transparent, and quick </a:t>
            </a:r>
            <a:r>
              <a:rPr lang="en-US" b="1" dirty="0">
                <a:ea typeface="+mn-lt"/>
                <a:cs typeface="+mn-lt"/>
              </a:rPr>
              <a:t>Top-Down evaluation process</a:t>
            </a:r>
            <a:r>
              <a:rPr lang="en-US">
                <a:ea typeface="+mn-lt"/>
                <a:cs typeface="+mn-lt"/>
              </a:rPr>
              <a:t> for trade-ins to ensure you buy the car well, which is the key to used car profit.</a:t>
            </a:r>
          </a:p>
          <a:p>
            <a:r>
              <a:rPr lang="en-US" b="1" dirty="0">
                <a:ea typeface="+mn-lt"/>
                <a:cs typeface="+mn-lt"/>
              </a:rPr>
              <a:t>Aggressive Inventory Management:</a:t>
            </a:r>
            <a:r>
              <a:rPr lang="en-US" dirty="0">
                <a:ea typeface="+mn-lt"/>
                <a:cs typeface="+mn-lt"/>
              </a:rPr>
              <a:t> Use </a:t>
            </a:r>
            <a:r>
              <a:rPr lang="en-US" b="1" dirty="0">
                <a:ea typeface="+mn-lt"/>
                <a:cs typeface="+mn-lt"/>
              </a:rPr>
              <a:t>data analytics and real-time market tools</a:t>
            </a:r>
            <a:r>
              <a:rPr lang="en-US" dirty="0">
                <a:ea typeface="+mn-lt"/>
                <a:cs typeface="+mn-lt"/>
              </a:rPr>
              <a:t> to optimize which used cars to acquire (via trade-ins or auction) and how to price them. The goal is a fast turn rate; aim to liquidate any vehicle over </a:t>
            </a:r>
            <a:r>
              <a:rPr lang="en-US" b="1" dirty="0">
                <a:ea typeface="+mn-lt"/>
                <a:cs typeface="+mn-lt"/>
              </a:rPr>
              <a:t>90 days in stock</a:t>
            </a:r>
            <a:r>
              <a:rPr lang="en-US" dirty="0">
                <a:ea typeface="+mn-lt"/>
                <a:cs typeface="+mn-lt"/>
              </a:rPr>
              <a:t> as holding costs quickly erode margin.</a:t>
            </a:r>
          </a:p>
        </p:txBody>
      </p:sp>
    </p:spTree>
    <p:extLst>
      <p:ext uri="{BB962C8B-B14F-4D97-AF65-F5344CB8AC3E}">
        <p14:creationId xmlns:p14="http://schemas.microsoft.com/office/powerpoint/2010/main" val="2232513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5229CE-177E-40CC-F6AB-1C51ED3754F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D6660FA-8D23-2652-24C7-425AAFDA5564}"/>
              </a:ext>
            </a:extLst>
          </p:cNvPr>
          <p:cNvSpPr>
            <a:spLocks noGrp="1"/>
          </p:cNvSpPr>
          <p:nvPr>
            <p:ph type="title"/>
          </p:nvPr>
        </p:nvSpPr>
        <p:spPr>
          <a:xfrm>
            <a:off x="521208" y="978408"/>
            <a:ext cx="11155680" cy="1463040"/>
          </a:xfrm>
        </p:spPr>
        <p:txBody>
          <a:bodyPr>
            <a:normAutofit/>
          </a:bodyPr>
          <a:lstStyle/>
          <a:p>
            <a:r>
              <a:rPr lang="en-US" dirty="0">
                <a:latin typeface="Times New Roman"/>
                <a:cs typeface="Times New Roman"/>
              </a:rPr>
              <a:t>KEY STRATEGIC RECOMMENDATIONS</a:t>
            </a:r>
            <a:endParaRPr lang="en-US">
              <a:latin typeface="Times New Roman"/>
              <a:cs typeface="Times New Roman"/>
            </a:endParaRPr>
          </a:p>
        </p:txBody>
      </p:sp>
      <p:sp>
        <p:nvSpPr>
          <p:cNvPr id="12" name="Rectangle 11">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3F22470A-EFD2-9C99-C634-73868DDA59F3}"/>
              </a:ext>
            </a:extLst>
          </p:cNvPr>
          <p:cNvSpPr>
            <a:spLocks noGrp="1"/>
          </p:cNvSpPr>
          <p:nvPr>
            <p:ph sz="half" idx="4294967295"/>
          </p:nvPr>
        </p:nvSpPr>
        <p:spPr>
          <a:xfrm>
            <a:off x="13485132" y="2166862"/>
            <a:ext cx="3726392" cy="670757"/>
          </a:xfrm>
        </p:spPr>
        <p:txBody>
          <a:bodyPr vert="horz" lIns="91440" tIns="45720" rIns="91440" bIns="45720" rtlCol="0" anchor="t">
            <a:normAutofit/>
          </a:bodyPr>
          <a:lstStyle/>
          <a:p>
            <a:pPr marL="0" indent="0" algn="ctr">
              <a:buNone/>
            </a:pPr>
            <a:endParaRPr lang="en-US" b="1" dirty="0">
              <a:latin typeface="Times New Roman"/>
              <a:ea typeface="+mn-lt"/>
              <a:cs typeface="+mn-lt"/>
            </a:endParaRPr>
          </a:p>
        </p:txBody>
      </p:sp>
      <p:graphicFrame>
        <p:nvGraphicFramePr>
          <p:cNvPr id="6" name="Content Placeholder 2">
            <a:extLst>
              <a:ext uri="{FF2B5EF4-FFF2-40B4-BE49-F238E27FC236}">
                <a16:creationId xmlns:a16="http://schemas.microsoft.com/office/drawing/2014/main" id="{6633F4D4-157B-4F39-EA07-F6E43BD2E7E0}"/>
              </a:ext>
            </a:extLst>
          </p:cNvPr>
          <p:cNvGraphicFramePr>
            <a:graphicFrameLocks noGrp="1"/>
          </p:cNvGraphicFramePr>
          <p:nvPr>
            <p:ph idx="1"/>
            <p:extLst>
              <p:ext uri="{D42A27DB-BD31-4B8C-83A1-F6EECF244321}">
                <p14:modId xmlns:p14="http://schemas.microsoft.com/office/powerpoint/2010/main" val="905335967"/>
              </p:ext>
            </p:extLst>
          </p:nvPr>
        </p:nvGraphicFramePr>
        <p:xfrm>
          <a:off x="520700" y="2578100"/>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2536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DCF2551A-9BF2-8941-138F-1BC803007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A2A842-EB07-5F08-672E-9F2CA600087C}"/>
              </a:ext>
            </a:extLst>
          </p:cNvPr>
          <p:cNvSpPr>
            <a:spLocks noGrp="1"/>
          </p:cNvSpPr>
          <p:nvPr>
            <p:ph type="title"/>
          </p:nvPr>
        </p:nvSpPr>
        <p:spPr>
          <a:xfrm>
            <a:off x="517869" y="462838"/>
            <a:ext cx="8393218" cy="3727025"/>
          </a:xfrm>
        </p:spPr>
        <p:txBody>
          <a:bodyPr vert="horz" lIns="91440" tIns="45720" rIns="91440" bIns="45720" rtlCol="0" anchor="t">
            <a:normAutofit/>
          </a:bodyPr>
          <a:lstStyle/>
          <a:p>
            <a:r>
              <a:rPr lang="en-US" sz="8000"/>
              <a:t>THE END. THANK YOU!!</a:t>
            </a:r>
          </a:p>
        </p:txBody>
      </p:sp>
      <p:sp>
        <p:nvSpPr>
          <p:cNvPr id="15" name="Freeform: Shape 14">
            <a:extLst>
              <a:ext uri="{FF2B5EF4-FFF2-40B4-BE49-F238E27FC236}">
                <a16:creationId xmlns:a16="http://schemas.microsoft.com/office/drawing/2014/main" id="{2CFEB66D-D958-4734-9DDE-0C683FD5D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209925"/>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55398667"/>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GestaltVTI</vt:lpstr>
      <vt:lpstr>BRIGHT MOTORS</vt:lpstr>
      <vt:lpstr>AGENDA</vt:lpstr>
      <vt:lpstr>EXECUTIVE SUMMARY</vt:lpstr>
      <vt:lpstr>BRIGHT MOTORS SUMMARY</vt:lpstr>
      <vt:lpstr>REVENUE ANALYSIS</vt:lpstr>
      <vt:lpstr>PowerPoint Presentation</vt:lpstr>
      <vt:lpstr>PRICE AND MILEAGE  ANALYSIS</vt:lpstr>
      <vt:lpstr>PowerPoint Presentation</vt:lpstr>
      <vt:lpstr>CAR SALES REVENUE BY STATE</vt:lpstr>
      <vt:lpstr>PowerPoint Presentation</vt:lpstr>
      <vt:lpstr>TREND ANALYSIS</vt:lpstr>
      <vt:lpstr>PowerPoint Presentation</vt:lpstr>
      <vt:lpstr>STRATEGIC RECOMMENATIONS</vt:lpstr>
      <vt:lpstr>KEY STRATEGIC RECOMMENDATIONS</vt:lpstr>
      <vt:lpstr>KEY STRATEGIC RECOMMENDATIONS</vt:lpstr>
      <vt:lpstr>THE END.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443</cp:revision>
  <dcterms:created xsi:type="dcterms:W3CDTF">2013-07-15T20:26:40Z</dcterms:created>
  <dcterms:modified xsi:type="dcterms:W3CDTF">2025-11-25T09:07:52Z</dcterms:modified>
</cp:coreProperties>
</file>